
<file path=[Content_Types].xml><?xml version="1.0" encoding="utf-8"?>
<Types xmlns="http://schemas.openxmlformats.org/package/2006/content-types">
  <Default Extension="xml" ContentType="application/vnd.openxmlformats-officedocument.extended-properties+xml"/>
  <Default Extension="png" ContentType="image/png"/>
  <Default Extension="jpeg" ContentType="image/jpeg"/>
  <Default Extension="mp4" ContentType="video/mp4"/>
  <Default Extension="gif" ContentType="image/gif"/>
  <Default Extension="rels" ContentType="application/vnd.openxmlformats-package.relationships+xml"/>
  <Override PartName="/docProps/core.xml" ContentType="application/vnd.openxmlformats-package.core-properties+xml"/>
  <Override PartName="/ppt/presentation.xml" ContentType="application/vnd.openxmlformats-officedocument.presentationml.presentation.main+xml"/>
  <Override PartName="/ppt/slides/slide4.xml" ContentType="application/vnd.openxmlformats-officedocument.presentationml.slide+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s/slide9.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customXml/item3.xml" ContentType="application/xml"/>
  <Override PartName="/customXml/itemProps3.xml" ContentType="application/vnd.openxmlformats-officedocument.customXmlProperties+xml"/>
  <Override PartName="/ppt/slides/slide17.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heme/theme2.xml" ContentType="application/vnd.openxmlformats-officedocument.theme+xml"/>
  <Override PartName="/customXml/item2.xml" ContentType="application/xml"/>
  <Override PartName="/customXml/itemProps2.xml" ContentType="application/vnd.openxmlformats-officedocument.customXmlProperties+xml"/>
  <Override PartName="/ppt/slides/slide12.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customXml/item1.xml" ContentType="application/xml"/>
  <Override PartName="/customXml/itemProps1.xml" ContentType="application/vnd.openxmlformats-officedocument.customXmlProperties+xml"/>
  <Override PartName="/ppt/slides/slide2.xml" ContentType="application/vnd.openxmlformats-officedocument.presentationml.slide+xml"/>
  <Override PartName="/ppt/notesSlides/notesSlide1.xml" ContentType="application/vnd.openxmlformats-officedocument.presentationml.notesSlide+xml"/>
  <Override PartName="/ppt/theme/themeOverride2.xml" ContentType="application/vnd.openxmlformats-officedocument.themeOverride+xml"/>
  <Override PartName="/ppt/slides/slide7.xml" ContentType="application/vnd.openxmlformats-officedocument.presentationml.slide+xml"/>
  <Override PartName="/ppt/slides/slide20.xml" ContentType="application/vnd.openxmlformats-officedocument.presentationml.slide+xml"/>
  <Override PartName="/ppt/slides/slide1.xml" ContentType="application/vnd.openxmlformats-officedocument.presentationml.slide+xml"/>
  <Override PartName="/ppt/theme/themeOverride1.xml" ContentType="application/vnd.openxmlformats-officedocument.themeOverride+xml"/>
  <Override PartName="/ppt/slides/slide11.xml" ContentType="application/vnd.openxmlformats-officedocument.presentationml.slide+xml"/>
  <Override PartName="/ppt/slides/slide19.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5.xml" ContentType="application/vnd.openxmlformats-officedocument.presentationml.slide+xml"/>
  <Override PartName="/ppt/slides/slide10.xml" ContentType="application/vnd.openxmlformats-officedocument.presentationml.slide+xml"/>
  <Override PartName="/ppt/slides/slide18.xml" ContentType="application/vnd.openxmlformats-officedocument.presentationml.slide+xml"/>
  <Override PartName="/ppt/viewProps.xml" ContentType="application/vnd.openxmlformats-officedocument.presentationml.viewProps+xml"/>
  <Override PartName="/docProps/custom.xml" ContentType="application/vnd.openxmlformats-officedocument.custom-properties+xml"/>
</Types>
</file>

<file path=_rels/.rels>&#65279;<?xml version="1.0" encoding="utf-8"?><Relationships xmlns="http://schemas.openxmlformats.org/package/2006/relationships"><Relationship Type="http://schemas.openxmlformats.org/officeDocument/2006/relationships/extended-properties" Target="/docProps/app.xml" Id="rId3" /><Relationship Type="http://schemas.openxmlformats.org/package/2006/relationships/metadata/core-properties" Target="/docProps/core.xml" Id="rId2" /><Relationship Type="http://schemas.openxmlformats.org/officeDocument/2006/relationships/officeDocument" Target="/ppt/presentation.xml" Id="rId1" /><Relationship Type="http://schemas.openxmlformats.org/officeDocument/2006/relationships/custom-properties" Target="/docProps/custom.xml" Id="rId4"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5"/>
  </p:notesMasterIdLst>
  <p:sldIdLst>
    <p:sldId id="278" r:id="rId5"/>
    <p:sldId id="279" r:id="rId6"/>
    <p:sldId id="280" r:id="rId7"/>
    <p:sldId id="281" r:id="rId8"/>
    <p:sldId id="282" r:id="rId9"/>
    <p:sldId id="283" r:id="rId10"/>
    <p:sldId id="284" r:id="rId11"/>
    <p:sldId id="285" r:id="rId12"/>
    <p:sldId id="299" r:id="rId13"/>
    <p:sldId id="289" r:id="rId14"/>
    <p:sldId id="293" r:id="rId15"/>
    <p:sldId id="300" r:id="rId16"/>
    <p:sldId id="295" r:id="rId17"/>
    <p:sldId id="294" r:id="rId18"/>
    <p:sldId id="301" r:id="rId19"/>
    <p:sldId id="297" r:id="rId20"/>
    <p:sldId id="298" r:id="rId21"/>
    <p:sldId id="302" r:id="rId22"/>
    <p:sldId id="303" r:id="rId23"/>
    <p:sldId id="30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905" autoAdjust="0"/>
    <p:restoredTop sz="94619" autoAdjust="0"/>
  </p:normalViewPr>
  <p:slideViewPr>
    <p:cSldViewPr snapToGrid="0">
      <p:cViewPr varScale="1">
        <p:scale>
          <a:sx n="67" d="100"/>
          <a:sy n="67" d="100"/>
        </p:scale>
        <p:origin x="724" y="56"/>
      </p:cViewPr>
      <p:guideLst/>
    </p:cSldViewPr>
  </p:slideViewPr>
  <p:notesTextViewPr>
    <p:cViewPr>
      <p:scale>
        <a:sx n="1" d="1"/>
        <a:sy n="1" d="1"/>
      </p:scale>
      <p:origin x="0" y="0"/>
    </p:cViewPr>
  </p:notesTextViewPr>
  <p:gridSpacing cx="72008" cy="72008"/>
</p:viewPr>
</file>

<file path=ppt/_rels/presentation.xml.rels>&#65279;<?xml version="1.0" encoding="utf-8"?><Relationships xmlns="http://schemas.openxmlformats.org/package/2006/relationships"><Relationship Type="http://schemas.openxmlformats.org/officeDocument/2006/relationships/slide" Target="/ppt/slides/slide4.xml" Id="rId8" /><Relationship Type="http://schemas.openxmlformats.org/officeDocument/2006/relationships/slide" Target="/ppt/slides/slide9.xml" Id="rId13" /><Relationship Type="http://schemas.openxmlformats.org/officeDocument/2006/relationships/slide" Target="/ppt/slides/slide14.xml" Id="rId18" /><Relationship Type="http://schemas.openxmlformats.org/officeDocument/2006/relationships/presProps" Target="/ppt/presProps.xml" Id="rId26" /><Relationship Type="http://schemas.openxmlformats.org/officeDocument/2006/relationships/customXml" Target="/customXml/item3.xml" Id="rId3" /><Relationship Type="http://schemas.openxmlformats.org/officeDocument/2006/relationships/slide" Target="/ppt/slides/slide17.xml" Id="rId21" /><Relationship Type="http://schemas.openxmlformats.org/officeDocument/2006/relationships/slide" Target="/ppt/slides/slide3.xml" Id="rId7" /><Relationship Type="http://schemas.openxmlformats.org/officeDocument/2006/relationships/slide" Target="/ppt/slides/slide8.xml" Id="rId12" /><Relationship Type="http://schemas.openxmlformats.org/officeDocument/2006/relationships/slide" Target="/ppt/slides/slide13.xml" Id="rId17" /><Relationship Type="http://schemas.openxmlformats.org/officeDocument/2006/relationships/notesMaster" Target="/ppt/notesMasters/notesMaster1.xml" Id="rId25" /><Relationship Type="http://schemas.openxmlformats.org/officeDocument/2006/relationships/customXml" Target="/customXml/item2.xml" Id="rId2" /><Relationship Type="http://schemas.openxmlformats.org/officeDocument/2006/relationships/slide" Target="/ppt/slides/slide12.xml" Id="rId16" /><Relationship Type="http://schemas.openxmlformats.org/officeDocument/2006/relationships/slide" Target="/ppt/slides/slide16.xml" Id="rId20" /><Relationship Type="http://schemas.openxmlformats.org/officeDocument/2006/relationships/tableStyles" Target="/ppt/tableStyles.xml" Id="rId29" /><Relationship Type="http://schemas.openxmlformats.org/officeDocument/2006/relationships/customXml" Target="/customXml/item1.xml" Id="rId1" /><Relationship Type="http://schemas.openxmlformats.org/officeDocument/2006/relationships/slide" Target="/ppt/slides/slide2.xml" Id="rId6" /><Relationship Type="http://schemas.openxmlformats.org/officeDocument/2006/relationships/slide" Target="/ppt/slides/slide7.xml" Id="rId11" /><Relationship Type="http://schemas.openxmlformats.org/officeDocument/2006/relationships/slide" Target="/ppt/slides/slide20.xml" Id="rId24" /><Relationship Type="http://schemas.openxmlformats.org/officeDocument/2006/relationships/slide" Target="/ppt/slides/slide1.xml" Id="rId5" /><Relationship Type="http://schemas.openxmlformats.org/officeDocument/2006/relationships/slide" Target="/ppt/slides/slide11.xml" Id="rId15" /><Relationship Type="http://schemas.openxmlformats.org/officeDocument/2006/relationships/slide" Target="/ppt/slides/slide19.xml" Id="rId23" /><Relationship Type="http://schemas.openxmlformats.org/officeDocument/2006/relationships/theme" Target="/ppt/theme/theme1.xml" Id="rId28" /><Relationship Type="http://schemas.openxmlformats.org/officeDocument/2006/relationships/slide" Target="/ppt/slides/slide6.xml" Id="rId10" /><Relationship Type="http://schemas.openxmlformats.org/officeDocument/2006/relationships/slide" Target="/ppt/slides/slide15.xml" Id="rId19" /><Relationship Type="http://schemas.openxmlformats.org/officeDocument/2006/relationships/slideMaster" Target="/ppt/slideMasters/slideMaster1.xml" Id="rId4" /><Relationship Type="http://schemas.openxmlformats.org/officeDocument/2006/relationships/slide" Target="/ppt/slides/slide5.xml" Id="rId9" /><Relationship Type="http://schemas.openxmlformats.org/officeDocument/2006/relationships/slide" Target="/ppt/slides/slide10.xml" Id="rId14" /><Relationship Type="http://schemas.openxmlformats.org/officeDocument/2006/relationships/slide" Target="/ppt/slides/slide18.xml" Id="rId22" /><Relationship Type="http://schemas.openxmlformats.org/officeDocument/2006/relationships/viewProps" Target="/ppt/viewProps.xml" Id="rId27" /></Relationships>
</file>

<file path=ppt/notesMasters/_rels/notesMaster1.xml.rels>&#65279;<?xml version="1.0" encoding="utf-8"?><Relationships xmlns="http://schemas.openxmlformats.org/package/2006/relationships"><Relationship Type="http://schemas.openxmlformats.org/officeDocument/2006/relationships/theme" Target="/ppt/theme/theme2.xml" Id="rId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1/8/2022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Relationships xmlns="http://schemas.openxmlformats.org/package/2006/relationships"><Relationship Type="http://schemas.openxmlformats.org/officeDocument/2006/relationships/slide" Target="/ppt/slides/slide2.xml" Id="rId2" /><Relationship Type="http://schemas.openxmlformats.org/officeDocument/2006/relationships/notesMaster" Target="/ppt/notesMasters/notesMaster1.xml" Id="rId1"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847550"/>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2.xml" Id="rId2" /><Relationship Type="http://schemas.openxmlformats.org/officeDocument/2006/relationships/theme" Target="/ppt/theme/theme1.xml" Id="rId16" /><Relationship Type="http://schemas.openxmlformats.org/officeDocument/2006/relationships/slideLayout" Target="/ppt/slideLayouts/slideLayout1.xml" Id="rId1" /></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1/8/2022</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ppt/media/image1.jpeg" Id="rId3" /><Relationship Type="http://schemas.openxmlformats.org/officeDocument/2006/relationships/slideLayout" Target="/ppt/slideLayouts/slideLayout1.xml" Id="rId2" /><Relationship Type="http://schemas.openxmlformats.org/officeDocument/2006/relationships/themeOverride" Target="/ppt/theme/themeOverride1.xml" Id="rId1" /><Relationship Type="http://schemas.openxmlformats.org/officeDocument/2006/relationships/image" Target="/ppt/media/image6.jpeg" Id="rId4" /></Relationships>
</file>

<file path=ppt/slides/_rels/slide2.xml.rels>&#65279;<?xml version="1.0" encoding="utf-8"?><Relationships xmlns="http://schemas.openxmlformats.org/package/2006/relationships"><Relationship Type="http://schemas.openxmlformats.org/officeDocument/2006/relationships/notesSlide" Target="/ppt/notesSlides/notesSlide1.xml" Id="rId3" /><Relationship Type="http://schemas.openxmlformats.org/officeDocument/2006/relationships/image" Target="/ppt/media/image9.jpeg" Id="rId7" /><Relationship Type="http://schemas.openxmlformats.org/officeDocument/2006/relationships/slideLayout" Target="/ppt/slideLayouts/slideLayout2.xml" Id="rId2" /><Relationship Type="http://schemas.openxmlformats.org/officeDocument/2006/relationships/themeOverride" Target="/ppt/theme/themeOverride2.xml" Id="rId1" /><Relationship Type="http://schemas.openxmlformats.org/officeDocument/2006/relationships/image" Target="/ppt/media/image8.png" Id="rId6" /><Relationship Type="http://schemas.openxmlformats.org/officeDocument/2006/relationships/image" Target="/ppt/media/image7.jpeg" Id="rId5" /><Relationship Type="http://schemas.openxmlformats.org/officeDocument/2006/relationships/image" Target="/ppt/media/image1.jpeg" Id="rId4" /></Relationships>
</file>

<file path=ppt/slides/_rels/slide3.xml.rels>&#65279;<?xml version="1.0" encoding="utf-8"?><Relationships xmlns="http://schemas.openxmlformats.org/package/2006/relationships"><Relationship Type="http://schemas.openxmlformats.org/officeDocument/2006/relationships/image" Target="/ppt/media/image10.gif" Id="rId2" /><Relationship Type="http://schemas.openxmlformats.org/officeDocument/2006/relationships/slideLayout" Target="/ppt/slideLayouts/slideLayout2.xml" Id="rId1" /></Relationships>
</file>

<file path=ppt/slides/_rels/slide4.xml.rels>&#65279;<?xml version="1.0" encoding="utf-8"?><Relationships xmlns="http://schemas.openxmlformats.org/package/2006/relationships"><Relationship Type="http://schemas.openxmlformats.org/officeDocument/2006/relationships/image" Target="/ppt/media/image11.png" Id="rId2" /><Relationship Type="http://schemas.openxmlformats.org/officeDocument/2006/relationships/slideLayout" Target="/ppt/slideLayouts/slideLayout2.xml" Id="rI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Id3" /><Relationship Type="http://schemas.openxmlformats.org/officeDocument/2006/relationships/image" Target="/ppt/media/image12.png" Id="rId4" /><Relationship Type="http://schemas.openxmlformats.org/officeDocument/2006/relationships/video" Target="NULL" TargetMode="External" Id="rId1" /><Relationship Type="http://schemas.microsoft.com/office/2007/relationships/media" Target="/ppt/media/media1.mp4" Id="rI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Id3" /><Relationship Type="http://schemas.openxmlformats.org/officeDocument/2006/relationships/image" Target="/ppt/media/image13.png" Id="rId4" /><Relationship Type="http://schemas.openxmlformats.org/officeDocument/2006/relationships/video" Target="NULL" TargetMode="External" Id="rId1" /><Relationship Type="http://schemas.microsoft.com/office/2007/relationships/media" Target="/ppt/media/media1.mp4" Id="rId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I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I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Id3" /><Relationship Type="http://schemas.openxmlformats.org/officeDocument/2006/relationships/image" Target="/ppt/media/image14.png" Id="rId4" /><Relationship Type="http://schemas.openxmlformats.org/officeDocument/2006/relationships/video" Target="NULL" TargetMode="External" Id="rId1" /><Relationship Type="http://schemas.microsoft.com/office/2007/relationships/media" Target="/ppt/media/media1.mp4" Id="rId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I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Id3" /><Relationship Type="http://schemas.openxmlformats.org/officeDocument/2006/relationships/image" Target="/ppt/media/image15.png" Id="rId4" /><Relationship Type="http://schemas.openxmlformats.org/officeDocument/2006/relationships/video" Target="NULL" TargetMode="External" Id="rId1" /><Relationship Type="http://schemas.microsoft.com/office/2007/relationships/media" Target="/ppt/media/media1.mp4" Id="rId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Id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Id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Id3" /><Relationship Type="http://schemas.openxmlformats.org/officeDocument/2006/relationships/image" Target="/ppt/media/image16.png" Id="rId4" /><Relationship Type="http://schemas.openxmlformats.org/officeDocument/2006/relationships/video" Target="NULL" TargetMode="External" Id="rId1" /><Relationship Type="http://schemas.microsoft.com/office/2007/relationships/media" Target="/ppt/media/media1.mp4" Id="rId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Id1" /></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 y="0"/>
            <a:ext cx="12192001" cy="6857990"/>
          </a:xfrm>
          <a:prstGeom prst="rect">
            <a:avLst/>
          </a:prstGeom>
        </p:spPr>
      </p:pic>
      <p:sp useBgFill="1">
        <p:nvSpPr>
          <p:cNvPr id="103"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6953250" y="1673523"/>
            <a:ext cx="4352925" cy="2850851"/>
          </a:xfrm>
        </p:spPr>
        <p:txBody>
          <a:bodyPr>
            <a:normAutofit/>
          </a:bodyPr>
          <a:lstStyle/>
          <a:p>
            <a:pPr algn="l"/>
            <a:r>
              <a:rPr lang="en-US" sz="4000" dirty="0"/>
              <a:t>   VISUAL ALGO</a:t>
            </a:r>
            <a:br>
              <a:rPr lang="en-US" sz="4000" dirty="0"/>
            </a:br>
            <a:endParaRPr lang="en-US" sz="4000" dirty="0"/>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7389965" y="4157933"/>
            <a:ext cx="3485072" cy="1026544"/>
          </a:xfrm>
        </p:spPr>
        <p:txBody>
          <a:bodyPr>
            <a:normAutofit/>
          </a:bodyPr>
          <a:lstStyle/>
          <a:p>
            <a:pPr algn="l"/>
            <a:r>
              <a:rPr lang="en-US" sz="2300" dirty="0"/>
              <a:t> </a:t>
            </a:r>
          </a:p>
          <a:p>
            <a:pPr algn="l"/>
            <a:endParaRPr lang="en-US" sz="2300" dirty="0"/>
          </a:p>
        </p:txBody>
      </p:sp>
      <p:sp>
        <p:nvSpPr>
          <p:cNvPr id="4" name="TextBox 3">
            <a:extLst>
              <a:ext uri="{FF2B5EF4-FFF2-40B4-BE49-F238E27FC236}">
                <a16:creationId xmlns:a16="http://schemas.microsoft.com/office/drawing/2014/main" id="{CAD1E9FF-A32E-44A7-96CD-A223AFDCEC9E}"/>
              </a:ext>
            </a:extLst>
          </p:cNvPr>
          <p:cNvSpPr txBox="1"/>
          <p:nvPr/>
        </p:nvSpPr>
        <p:spPr>
          <a:xfrm>
            <a:off x="1981180" y="3098948"/>
            <a:ext cx="4649382" cy="1323439"/>
          </a:xfrm>
          <a:prstGeom prst="rect">
            <a:avLst/>
          </a:prstGeom>
          <a:noFill/>
        </p:spPr>
        <p:txBody>
          <a:bodyPr wrap="square" rtlCol="0">
            <a:spAutoFit/>
          </a:bodyPr>
          <a:lstStyle/>
          <a:p>
            <a:pPr>
              <a:lnSpc>
                <a:spcPct val="100000"/>
              </a:lnSpc>
            </a:pPr>
            <a:r>
              <a:rPr lang="en-US" sz="800" dirty="0"/>
              <a:t> </a:t>
            </a:r>
            <a:r>
              <a:rPr lang="en-US" sz="2000" b="1" dirty="0">
                <a:solidFill>
                  <a:schemeClr val="bg1">
                    <a:lumMod val="95000"/>
                    <a:lumOff val="5000"/>
                  </a:schemeClr>
                </a:solidFill>
              </a:rPr>
              <a:t>19071A12C6 - BH. JAYA KRISHNA SRI</a:t>
            </a:r>
          </a:p>
          <a:p>
            <a:pPr>
              <a:lnSpc>
                <a:spcPct val="100000"/>
              </a:lnSpc>
            </a:pPr>
            <a:r>
              <a:rPr lang="en-US" sz="2000" b="1" dirty="0">
                <a:solidFill>
                  <a:schemeClr val="bg1">
                    <a:lumMod val="95000"/>
                    <a:lumOff val="5000"/>
                  </a:schemeClr>
                </a:solidFill>
              </a:rPr>
              <a:t>19071A12C9 - B. MEGHANA</a:t>
            </a:r>
          </a:p>
          <a:p>
            <a:pPr>
              <a:lnSpc>
                <a:spcPct val="100000"/>
              </a:lnSpc>
            </a:pPr>
            <a:r>
              <a:rPr lang="en-US" sz="2000" b="1" dirty="0">
                <a:solidFill>
                  <a:schemeClr val="bg1">
                    <a:lumMod val="95000"/>
                    <a:lumOff val="5000"/>
                  </a:schemeClr>
                </a:solidFill>
              </a:rPr>
              <a:t>19071A12E2 - K. MAMATHA</a:t>
            </a:r>
          </a:p>
          <a:p>
            <a:pPr>
              <a:lnSpc>
                <a:spcPct val="100000"/>
              </a:lnSpc>
            </a:pPr>
            <a:r>
              <a:rPr lang="en-US" sz="2000" b="1" dirty="0">
                <a:solidFill>
                  <a:schemeClr val="bg1">
                    <a:lumMod val="95000"/>
                    <a:lumOff val="5000"/>
                  </a:schemeClr>
                </a:solidFill>
              </a:rPr>
              <a:t>19071A12G8 - SK. AFREEN</a:t>
            </a:r>
            <a:endParaRPr lang="en-IN" sz="2000" b="1" dirty="0">
              <a:solidFill>
                <a:schemeClr val="bg1">
                  <a:lumMod val="95000"/>
                  <a:lumOff val="5000"/>
                </a:schemeClr>
              </a:solidFill>
            </a:endParaRPr>
          </a:p>
        </p:txBody>
      </p:sp>
      <p:sp>
        <p:nvSpPr>
          <p:cNvPr id="6" name="TextBox 5">
            <a:extLst>
              <a:ext uri="{FF2B5EF4-FFF2-40B4-BE49-F238E27FC236}">
                <a16:creationId xmlns:a16="http://schemas.microsoft.com/office/drawing/2014/main" id="{B18F6427-EE30-4B32-9177-6FF10EF63277}"/>
              </a:ext>
            </a:extLst>
          </p:cNvPr>
          <p:cNvSpPr txBox="1"/>
          <p:nvPr/>
        </p:nvSpPr>
        <p:spPr>
          <a:xfrm>
            <a:off x="2350341" y="5238656"/>
            <a:ext cx="3606300" cy="1384995"/>
          </a:xfrm>
          <a:prstGeom prst="rect">
            <a:avLst/>
          </a:prstGeom>
          <a:noFill/>
        </p:spPr>
        <p:txBody>
          <a:bodyPr wrap="square" rtlCol="0">
            <a:spAutoFit/>
          </a:bodyPr>
          <a:lstStyle/>
          <a:p>
            <a:r>
              <a:rPr lang="en-US" sz="2400" b="1" dirty="0">
                <a:solidFill>
                  <a:schemeClr val="bg1"/>
                </a:solidFill>
                <a:latin typeface="+mj-lt"/>
              </a:rPr>
              <a:t>Under the guidance of-</a:t>
            </a:r>
          </a:p>
          <a:p>
            <a:r>
              <a:rPr lang="en-US" sz="2400" b="1" dirty="0" err="1">
                <a:solidFill>
                  <a:schemeClr val="bg1"/>
                </a:solidFill>
                <a:latin typeface="+mj-lt"/>
              </a:rPr>
              <a:t>Mrs.S.Swathi</a:t>
            </a:r>
            <a:endParaRPr lang="en-US" sz="2400" b="1" dirty="0">
              <a:solidFill>
                <a:schemeClr val="bg1"/>
              </a:solidFill>
              <a:latin typeface="+mj-lt"/>
            </a:endParaRPr>
          </a:p>
          <a:p>
            <a:r>
              <a:rPr lang="en-US" b="1" dirty="0">
                <a:solidFill>
                  <a:schemeClr val="bg1"/>
                </a:solidFill>
                <a:latin typeface="+mj-lt"/>
              </a:rPr>
              <a:t>Assistant Professor</a:t>
            </a:r>
          </a:p>
          <a:p>
            <a:r>
              <a:rPr lang="en-US" b="1" dirty="0">
                <a:solidFill>
                  <a:schemeClr val="bg1"/>
                </a:solidFill>
                <a:latin typeface="+mj-lt"/>
              </a:rPr>
              <a:t>Dept. of IT</a:t>
            </a:r>
            <a:endParaRPr lang="en-IN" b="1" dirty="0">
              <a:solidFill>
                <a:schemeClr val="bg1"/>
              </a:solidFill>
              <a:latin typeface="+mj-lt"/>
            </a:endParaRPr>
          </a:p>
        </p:txBody>
      </p:sp>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0" y="321568"/>
            <a:ext cx="5152809" cy="5772696"/>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5369116" y="371475"/>
            <a:ext cx="5934973" cy="970450"/>
          </a:xfrm>
        </p:spPr>
        <p:txBody>
          <a:bodyPr anchor="b">
            <a:normAutofit/>
          </a:bodyPr>
          <a:lstStyle/>
          <a:p>
            <a:pPr algn="l"/>
            <a:r>
              <a:rPr lang="en-US" sz="4000" dirty="0"/>
              <a:t>Visual Algorithm-</a:t>
            </a:r>
          </a:p>
        </p:txBody>
      </p:sp>
      <p:sp>
        <p:nvSpPr>
          <p:cNvPr id="24" name="Content Placeholder 2">
            <a:extLst>
              <a:ext uri="{FF2B5EF4-FFF2-40B4-BE49-F238E27FC236}">
                <a16:creationId xmlns:a16="http://schemas.microsoft.com/office/drawing/2014/main" id="{F260476B-CCA6-412B-A9C5-399C34AE6F05}"/>
              </a:ext>
            </a:extLst>
          </p:cNvPr>
          <p:cNvSpPr>
            <a:spLocks noGrp="1"/>
          </p:cNvSpPr>
          <p:nvPr>
            <p:ph idx="1"/>
          </p:nvPr>
        </p:nvSpPr>
        <p:spPr>
          <a:xfrm>
            <a:off x="5369116" y="1732449"/>
            <a:ext cx="5934973" cy="4058751"/>
          </a:xfrm>
        </p:spPr>
        <p:txBody>
          <a:bodyPr anchor="t">
            <a:normAutofit/>
          </a:bodyPr>
          <a:lstStyle/>
          <a:p>
            <a:r>
              <a:rPr lang="en-US" sz="2000" b="0" i="0" dirty="0">
                <a:solidFill>
                  <a:schemeClr val="tx1">
                    <a:lumMod val="95000"/>
                  </a:schemeClr>
                </a:solidFill>
                <a:effectLst/>
                <a:latin typeface="Roboto" panose="020B0604020202020204" pitchFamily="2" charset="0"/>
              </a:rPr>
              <a:t>This</a:t>
            </a:r>
            <a:r>
              <a:rPr lang="en-US" sz="2000" b="1" i="0" dirty="0">
                <a:solidFill>
                  <a:schemeClr val="tx1">
                    <a:lumMod val="95000"/>
                  </a:schemeClr>
                </a:solidFill>
                <a:effectLst/>
                <a:latin typeface="Roboto" panose="020B0604020202020204" pitchFamily="2" charset="0"/>
              </a:rPr>
              <a:t> project</a:t>
            </a:r>
            <a:r>
              <a:rPr lang="en-US" sz="2000" b="0" i="0" dirty="0">
                <a:solidFill>
                  <a:schemeClr val="tx1">
                    <a:lumMod val="95000"/>
                  </a:schemeClr>
                </a:solidFill>
                <a:effectLst/>
                <a:latin typeface="Roboto" panose="020B0604020202020204" pitchFamily="2" charset="0"/>
              </a:rPr>
              <a:t> is for educational purpose.</a:t>
            </a:r>
          </a:p>
          <a:p>
            <a:r>
              <a:rPr lang="en-US" sz="2000" b="0" i="0" dirty="0">
                <a:solidFill>
                  <a:schemeClr val="tx1">
                    <a:lumMod val="95000"/>
                  </a:schemeClr>
                </a:solidFill>
                <a:effectLst/>
                <a:latin typeface="Roboto" panose="020B0604020202020204" pitchFamily="2" charset="0"/>
              </a:rPr>
              <a:t> The main objective of this</a:t>
            </a:r>
            <a:r>
              <a:rPr lang="en-US" sz="2000" b="1" i="0" dirty="0">
                <a:solidFill>
                  <a:schemeClr val="tx1">
                    <a:lumMod val="95000"/>
                  </a:schemeClr>
                </a:solidFill>
                <a:effectLst/>
                <a:latin typeface="Roboto" panose="020B0604020202020204" pitchFamily="2" charset="0"/>
              </a:rPr>
              <a:t> project</a:t>
            </a:r>
            <a:r>
              <a:rPr lang="en-US" sz="2000" b="0" i="0" dirty="0">
                <a:solidFill>
                  <a:schemeClr val="tx1">
                    <a:lumMod val="95000"/>
                  </a:schemeClr>
                </a:solidFill>
                <a:effectLst/>
                <a:latin typeface="Roboto" panose="020B0604020202020204" pitchFamily="2" charset="0"/>
              </a:rPr>
              <a:t> is to help beginners to be able to</a:t>
            </a:r>
            <a:r>
              <a:rPr lang="en-US" sz="2000" b="1" i="0" dirty="0">
                <a:solidFill>
                  <a:schemeClr val="tx1">
                    <a:lumMod val="95000"/>
                  </a:schemeClr>
                </a:solidFill>
                <a:effectLst/>
                <a:latin typeface="Roboto" panose="020B0604020202020204" pitchFamily="2" charset="0"/>
              </a:rPr>
              <a:t> visualize</a:t>
            </a:r>
            <a:r>
              <a:rPr lang="en-US" sz="2000" b="0" i="0" dirty="0">
                <a:solidFill>
                  <a:schemeClr val="tx1">
                    <a:lumMod val="95000"/>
                  </a:schemeClr>
                </a:solidFill>
                <a:effectLst/>
                <a:latin typeface="Roboto" panose="020B0604020202020204" pitchFamily="2" charset="0"/>
              </a:rPr>
              <a:t> the basic algorithms and get a better understanding of the underlying operations</a:t>
            </a:r>
            <a:r>
              <a:rPr lang="en-US" sz="2000" b="0" i="0" dirty="0">
                <a:solidFill>
                  <a:srgbClr val="666666"/>
                </a:solidFill>
                <a:effectLst/>
                <a:latin typeface="Roboto" panose="020B0604020202020204" pitchFamily="2" charset="0"/>
              </a:rPr>
              <a:t>.</a:t>
            </a:r>
          </a:p>
          <a:p>
            <a:endParaRPr lang="en-US" sz="2000" b="0" i="0" dirty="0">
              <a:solidFill>
                <a:srgbClr val="666666"/>
              </a:solidFill>
              <a:effectLst/>
              <a:latin typeface="Roboto" panose="020B0604020202020204" pitchFamily="2" charset="0"/>
            </a:endParaRPr>
          </a:p>
          <a:p>
            <a:endParaRPr lang="en-US" sz="2400" dirty="0"/>
          </a:p>
        </p:txBody>
      </p:sp>
      <p:pic>
        <p:nvPicPr>
          <p:cNvPr id="1026" name="Picture 2" descr="Image result for sorting algorithm">
            <a:extLst>
              <a:ext uri="{FF2B5EF4-FFF2-40B4-BE49-F238E27FC236}">
                <a16:creationId xmlns:a16="http://schemas.microsoft.com/office/drawing/2014/main" id="{1E2D85C8-C939-4D98-B65E-0D74FBB8C51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80" y="1732449"/>
            <a:ext cx="5138330" cy="3058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0235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085EE-19C2-4A25-8A73-9BC4498D5DB3}"/>
              </a:ext>
            </a:extLst>
          </p:cNvPr>
          <p:cNvSpPr>
            <a:spLocks noGrp="1"/>
          </p:cNvSpPr>
          <p:nvPr>
            <p:ph type="title"/>
          </p:nvPr>
        </p:nvSpPr>
        <p:spPr/>
        <p:txBody>
          <a:bodyPr>
            <a:normAutofit fontScale="90000"/>
          </a:bodyPr>
          <a:lstStyle/>
          <a:p>
            <a:pPr algn="l"/>
            <a:r>
              <a:rPr lang="en-US" dirty="0"/>
              <a:t>Sorting-</a:t>
            </a:r>
            <a:br>
              <a:rPr lang="en-US" dirty="0"/>
            </a:br>
            <a:br>
              <a:rPr lang="en-US" dirty="0"/>
            </a:br>
            <a:endParaRPr lang="en-IN" dirty="0"/>
          </a:p>
        </p:txBody>
      </p:sp>
      <p:sp>
        <p:nvSpPr>
          <p:cNvPr id="3" name="Content Placeholder 2">
            <a:extLst>
              <a:ext uri="{FF2B5EF4-FFF2-40B4-BE49-F238E27FC236}">
                <a16:creationId xmlns:a16="http://schemas.microsoft.com/office/drawing/2014/main" id="{3A5EB90B-D3B8-4FCC-B827-446461448CAF}"/>
              </a:ext>
            </a:extLst>
          </p:cNvPr>
          <p:cNvSpPr>
            <a:spLocks noGrp="1"/>
          </p:cNvSpPr>
          <p:nvPr>
            <p:ph idx="1"/>
          </p:nvPr>
        </p:nvSpPr>
        <p:spPr>
          <a:xfrm>
            <a:off x="381001" y="1257300"/>
            <a:ext cx="6134099" cy="4533899"/>
          </a:xfrm>
        </p:spPr>
        <p:txBody>
          <a:bodyPr>
            <a:normAutofit fontScale="92500"/>
          </a:bodyPr>
          <a:lstStyle/>
          <a:p>
            <a:r>
              <a:rPr lang="en-US" b="0" i="0" dirty="0">
                <a:solidFill>
                  <a:srgbClr val="FFFFFF"/>
                </a:solidFill>
                <a:effectLst/>
                <a:latin typeface="pt sans" panose="020B0604020202020204" pitchFamily="34" charset="0"/>
              </a:rPr>
              <a:t>Sorting is a very classic problem of reordering items of an array (or a list) in a certain order (increasing, non-decreasing, decreasing, non-increasing, lexicographical, </a:t>
            </a:r>
            <a:r>
              <a:rPr lang="en-US" b="0" i="0" dirty="0" err="1">
                <a:solidFill>
                  <a:srgbClr val="FFFFFF"/>
                </a:solidFill>
                <a:effectLst/>
                <a:latin typeface="pt sans" panose="020B0604020202020204" pitchFamily="34" charset="0"/>
              </a:rPr>
              <a:t>etc</a:t>
            </a:r>
            <a:r>
              <a:rPr lang="en-US" b="0" i="0" dirty="0">
                <a:solidFill>
                  <a:srgbClr val="FFFFFF"/>
                </a:solidFill>
                <a:effectLst/>
                <a:latin typeface="pt sans" panose="020B0604020202020204" pitchFamily="34" charset="0"/>
              </a:rPr>
              <a:t>).</a:t>
            </a:r>
            <a:endParaRPr lang="en-US" b="0" i="0" dirty="0">
              <a:solidFill>
                <a:srgbClr val="E5E7EB"/>
              </a:solidFill>
              <a:effectLst/>
              <a:latin typeface="Open Sans" panose="020B0604020202020204" pitchFamily="34" charset="0"/>
            </a:endParaRPr>
          </a:p>
          <a:p>
            <a:r>
              <a:rPr lang="en-US" b="0" i="0" dirty="0">
                <a:solidFill>
                  <a:srgbClr val="E5E7EB"/>
                </a:solidFill>
                <a:effectLst/>
                <a:latin typeface="Open Sans" panose="020B0604020202020204" pitchFamily="34" charset="0"/>
              </a:rPr>
              <a:t>We have learnt sorting algorithms like bubble sort, selection sort, insertion sort, quick sort. But often we fail to understand the core idea of a particular algorithm maybe because we are unable to visualize how they work. So the most important thing to understand about these algorithms is visualization.</a:t>
            </a:r>
            <a:endParaRPr lang="en-IN" dirty="0"/>
          </a:p>
        </p:txBody>
      </p:sp>
      <p:pic>
        <p:nvPicPr>
          <p:cNvPr id="5" name="Picture 4">
            <a:extLst>
              <a:ext uri="{FF2B5EF4-FFF2-40B4-BE49-F238E27FC236}">
                <a16:creationId xmlns:a16="http://schemas.microsoft.com/office/drawing/2014/main" id="{15DEB6BE-9367-4CCC-ADF6-4C1E5732E31B}"/>
              </a:ext>
            </a:extLst>
          </p:cNvPr>
          <p:cNvPicPr>
            <a:picLocks noChangeAspect="1"/>
          </p:cNvPicPr>
          <p:nvPr/>
        </p:nvPicPr>
        <p:blipFill rotWithShape="1">
          <a:blip r:embed="rId2"/>
          <a:srcRect l="1833" t="-21111" r="-1833" b="21111"/>
          <a:stretch/>
        </p:blipFill>
        <p:spPr>
          <a:xfrm>
            <a:off x="6795526" y="771524"/>
            <a:ext cx="5187529" cy="3890647"/>
          </a:xfrm>
          <a:prstGeom prst="rect">
            <a:avLst/>
          </a:prstGeom>
        </p:spPr>
      </p:pic>
    </p:spTree>
    <p:extLst>
      <p:ext uri="{BB962C8B-B14F-4D97-AF65-F5344CB8AC3E}">
        <p14:creationId xmlns:p14="http://schemas.microsoft.com/office/powerpoint/2010/main" val="1593199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37E42-1D07-44FD-B577-3D449834F61A}"/>
              </a:ext>
            </a:extLst>
          </p:cNvPr>
          <p:cNvSpPr>
            <a:spLocks noGrp="1"/>
          </p:cNvSpPr>
          <p:nvPr>
            <p:ph type="title"/>
          </p:nvPr>
        </p:nvSpPr>
        <p:spPr/>
        <p:txBody>
          <a:bodyPr/>
          <a:lstStyle/>
          <a:p>
            <a:pPr algn="l"/>
            <a:r>
              <a:rPr lang="en-US" dirty="0"/>
              <a:t>Technologies used:</a:t>
            </a:r>
            <a:endParaRPr lang="en-IN" dirty="0"/>
          </a:p>
        </p:txBody>
      </p:sp>
      <p:sp>
        <p:nvSpPr>
          <p:cNvPr id="3" name="Content Placeholder 2">
            <a:extLst>
              <a:ext uri="{FF2B5EF4-FFF2-40B4-BE49-F238E27FC236}">
                <a16:creationId xmlns:a16="http://schemas.microsoft.com/office/drawing/2014/main" id="{28FAAC56-965A-4EF0-A492-FAE126E1C71C}"/>
              </a:ext>
            </a:extLst>
          </p:cNvPr>
          <p:cNvSpPr>
            <a:spLocks noGrp="1"/>
          </p:cNvSpPr>
          <p:nvPr>
            <p:ph idx="1"/>
          </p:nvPr>
        </p:nvSpPr>
        <p:spPr>
          <a:xfrm>
            <a:off x="561370" y="1781175"/>
            <a:ext cx="10353762" cy="3714749"/>
          </a:xfrm>
        </p:spPr>
        <p:txBody>
          <a:bodyPr/>
          <a:lstStyle/>
          <a:p>
            <a:pPr algn="l">
              <a:buFont typeface="Arial" panose="020B0604020202020204" pitchFamily="34" charset="0"/>
              <a:buChar char="•"/>
            </a:pPr>
            <a:r>
              <a:rPr lang="en-US" b="0" i="0" dirty="0">
                <a:solidFill>
                  <a:srgbClr val="E5E7EB"/>
                </a:solidFill>
                <a:effectLst/>
                <a:latin typeface="Open Sans" panose="020B0606030504020204" pitchFamily="34" charset="0"/>
              </a:rPr>
              <a:t>Creating the website's User Interface (UI) using HTML, CSS and enhancing it further using Bootstrap; without actually implementing any of the app's core features.</a:t>
            </a:r>
          </a:p>
          <a:p>
            <a:pPr algn="l">
              <a:buFont typeface="Arial" panose="020B0604020202020204" pitchFamily="34" charset="0"/>
              <a:buChar char="•"/>
            </a:pPr>
            <a:r>
              <a:rPr lang="en-US" b="0" i="0" dirty="0">
                <a:solidFill>
                  <a:srgbClr val="E5E7EB"/>
                </a:solidFill>
                <a:effectLst/>
                <a:latin typeface="Open Sans" panose="020B0606030504020204" pitchFamily="34" charset="0"/>
              </a:rPr>
              <a:t>Implementation of animations, effects and core functionalities (sorting algorithms) using JavaScript</a:t>
            </a:r>
          </a:p>
          <a:p>
            <a:endParaRPr lang="en-IN" dirty="0"/>
          </a:p>
        </p:txBody>
      </p:sp>
      <p:pic>
        <p:nvPicPr>
          <p:cNvPr id="2050" name="Picture 2" descr="Project_stages">
            <a:extLst>
              <a:ext uri="{FF2B5EF4-FFF2-40B4-BE49-F238E27FC236}">
                <a16:creationId xmlns:a16="http://schemas.microsoft.com/office/drawing/2014/main" id="{327FD6EA-0CFD-4B82-9928-D4B51318F80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3938" b="1852"/>
          <a:stretch/>
        </p:blipFill>
        <p:spPr bwMode="auto">
          <a:xfrm>
            <a:off x="3529013" y="4612482"/>
            <a:ext cx="4581060" cy="1112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5296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6A976-94A4-4FCE-9FF0-E0A936DCF013}"/>
              </a:ext>
            </a:extLst>
          </p:cNvPr>
          <p:cNvSpPr>
            <a:spLocks noGrp="1"/>
          </p:cNvSpPr>
          <p:nvPr>
            <p:ph type="title"/>
          </p:nvPr>
        </p:nvSpPr>
        <p:spPr/>
        <p:txBody>
          <a:bodyPr/>
          <a:lstStyle/>
          <a:p>
            <a:pPr algn="l"/>
            <a:r>
              <a:rPr lang="en-US" dirty="0"/>
              <a:t>Various Sorting Algorithms:</a:t>
            </a:r>
            <a:endParaRPr lang="en-IN" dirty="0"/>
          </a:p>
        </p:txBody>
      </p:sp>
      <p:sp>
        <p:nvSpPr>
          <p:cNvPr id="3" name="Content Placeholder 2">
            <a:extLst>
              <a:ext uri="{FF2B5EF4-FFF2-40B4-BE49-F238E27FC236}">
                <a16:creationId xmlns:a16="http://schemas.microsoft.com/office/drawing/2014/main" id="{36A34856-35C0-4FA1-A43B-1359FDF1AE61}"/>
              </a:ext>
            </a:extLst>
          </p:cNvPr>
          <p:cNvSpPr>
            <a:spLocks noGrp="1"/>
          </p:cNvSpPr>
          <p:nvPr>
            <p:ph idx="1"/>
          </p:nvPr>
        </p:nvSpPr>
        <p:spPr/>
        <p:txBody>
          <a:bodyPr>
            <a:normAutofit lnSpcReduction="10000"/>
          </a:bodyPr>
          <a:lstStyle/>
          <a:p>
            <a:r>
              <a:rPr lang="en-US" sz="3600" dirty="0"/>
              <a:t>Bubble sort</a:t>
            </a:r>
          </a:p>
          <a:p>
            <a:r>
              <a:rPr lang="en-US" sz="3600" dirty="0"/>
              <a:t>Selection sort</a:t>
            </a:r>
          </a:p>
          <a:p>
            <a:r>
              <a:rPr lang="en-US" sz="3600" dirty="0"/>
              <a:t>Insertion sort</a:t>
            </a:r>
          </a:p>
          <a:p>
            <a:r>
              <a:rPr lang="en-US" sz="3600" dirty="0"/>
              <a:t>Merge sort</a:t>
            </a:r>
          </a:p>
          <a:p>
            <a:r>
              <a:rPr lang="en-US" sz="3600" dirty="0"/>
              <a:t>Quick sort</a:t>
            </a:r>
            <a:endParaRPr lang="en-IN" sz="3600" dirty="0"/>
          </a:p>
        </p:txBody>
      </p:sp>
    </p:spTree>
    <p:extLst>
      <p:ext uri="{BB962C8B-B14F-4D97-AF65-F5344CB8AC3E}">
        <p14:creationId xmlns:p14="http://schemas.microsoft.com/office/powerpoint/2010/main" val="2544207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6A04E-B903-47B3-B6C0-5868B67FEEBD}"/>
              </a:ext>
            </a:extLst>
          </p:cNvPr>
          <p:cNvSpPr>
            <a:spLocks noGrp="1"/>
          </p:cNvSpPr>
          <p:nvPr>
            <p:ph type="title"/>
          </p:nvPr>
        </p:nvSpPr>
        <p:spPr>
          <a:xfrm>
            <a:off x="919119" y="104775"/>
            <a:ext cx="10353762" cy="1257300"/>
          </a:xfrm>
        </p:spPr>
        <p:txBody>
          <a:bodyPr/>
          <a:lstStyle/>
          <a:p>
            <a:r>
              <a:rPr lang="en-US" dirty="0"/>
              <a:t>BUBBLE SORT</a:t>
            </a:r>
            <a:endParaRPr lang="en-IN" dirty="0"/>
          </a:p>
        </p:txBody>
      </p:sp>
      <p:pic>
        <p:nvPicPr>
          <p:cNvPr id="17" name="JAMM and 8 more pages - Personal - Microsoft​ Edge 2022-01-08 13-43-06">
            <a:hlinkClick r:id="" action="ppaction://media"/>
            <a:extLst>
              <a:ext uri="{FF2B5EF4-FFF2-40B4-BE49-F238E27FC236}">
                <a16:creationId xmlns:a16="http://schemas.microsoft.com/office/drawing/2014/main" id="{4F530334-BA4B-4B5C-8E86-A586EA551E44}"/>
              </a:ext>
            </a:extLst>
          </p:cNvPr>
          <p:cNvPicPr>
            <a:picLocks noGrp="1" noChangeAspect="1"/>
          </p:cNvPicPr>
          <p:nvPr>
            <p:ph idx="1"/>
            <a:videoFile r:link="rId1"/>
            <p:extLst>
              <p:ext uri="{DAA4B4D4-6D71-4841-9C94-3DE7FCFB9230}">
                <p14:media xmlns:p14="http://schemas.microsoft.com/office/powerpoint/2010/main" r:embed="rId2">
                  <p14:trim st="12779" end="46470.8666"/>
                </p14:media>
              </p:ext>
            </p:extLst>
          </p:nvPr>
        </p:nvPicPr>
        <p:blipFill rotWithShape="1">
          <a:blip r:embed="rId4"/>
          <a:srcRect t="4308"/>
          <a:stretch/>
        </p:blipFill>
        <p:spPr>
          <a:xfrm>
            <a:off x="2110043" y="1371601"/>
            <a:ext cx="9162838" cy="4657724"/>
          </a:xfrm>
        </p:spPr>
      </p:pic>
    </p:spTree>
    <p:extLst>
      <p:ext uri="{BB962C8B-B14F-4D97-AF65-F5344CB8AC3E}">
        <p14:creationId xmlns:p14="http://schemas.microsoft.com/office/powerpoint/2010/main" val="3514309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158"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17"/>
                </p:tgtEl>
              </p:cMediaNode>
            </p:video>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7"/>
                                        </p:tgtEl>
                                      </p:cBhvr>
                                    </p:cmd>
                                  </p:childTnLst>
                                </p:cTn>
                              </p:par>
                            </p:childTnLst>
                          </p:cTn>
                        </p:par>
                      </p:childTnLst>
                    </p:cTn>
                  </p:par>
                </p:childTnLst>
              </p:cTn>
              <p:nextCondLst>
                <p:cond evt="onClick" delay="0">
                  <p:tgtEl>
                    <p:spTgt spid="17"/>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D9828-599B-4453-925C-8D6138215D22}"/>
              </a:ext>
            </a:extLst>
          </p:cNvPr>
          <p:cNvSpPr>
            <a:spLocks noGrp="1"/>
          </p:cNvSpPr>
          <p:nvPr>
            <p:ph type="title"/>
          </p:nvPr>
        </p:nvSpPr>
        <p:spPr/>
        <p:txBody>
          <a:bodyPr/>
          <a:lstStyle/>
          <a:p>
            <a:pPr algn="l"/>
            <a:r>
              <a:rPr lang="en-IN" b="0" i="0" dirty="0">
                <a:solidFill>
                  <a:schemeClr val="tx1">
                    <a:lumMod val="95000"/>
                  </a:schemeClr>
                </a:solidFill>
                <a:effectLst/>
                <a:latin typeface="system-ui"/>
              </a:rPr>
              <a:t>Implementing Bubble Sort Algorithm:</a:t>
            </a:r>
          </a:p>
        </p:txBody>
      </p:sp>
      <p:sp>
        <p:nvSpPr>
          <p:cNvPr id="3" name="Content Placeholder 2">
            <a:extLst>
              <a:ext uri="{FF2B5EF4-FFF2-40B4-BE49-F238E27FC236}">
                <a16:creationId xmlns:a16="http://schemas.microsoft.com/office/drawing/2014/main" id="{65A7CE93-D167-40BE-9533-7DAC5BD78D0A}"/>
              </a:ext>
            </a:extLst>
          </p:cNvPr>
          <p:cNvSpPr>
            <a:spLocks noGrp="1"/>
          </p:cNvSpPr>
          <p:nvPr>
            <p:ph idx="1"/>
          </p:nvPr>
        </p:nvSpPr>
        <p:spPr>
          <a:xfrm>
            <a:off x="333374" y="2076450"/>
            <a:ext cx="10525125" cy="3714749"/>
          </a:xfrm>
        </p:spPr>
        <p:txBody>
          <a:bodyPr>
            <a:normAutofit/>
          </a:bodyPr>
          <a:lstStyle/>
          <a:p>
            <a:pPr algn="l"/>
            <a:r>
              <a:rPr lang="en-US" b="0" i="0" dirty="0">
                <a:solidFill>
                  <a:schemeClr val="tx1"/>
                </a:solidFill>
                <a:effectLst/>
                <a:latin typeface="system-ui"/>
              </a:rPr>
              <a:t>Following are the steps involved in bubble sort:</a:t>
            </a:r>
          </a:p>
          <a:p>
            <a:pPr marL="36900" indent="0" algn="l">
              <a:buNone/>
            </a:pPr>
            <a:r>
              <a:rPr lang="en-US" b="0" i="0" dirty="0">
                <a:solidFill>
                  <a:schemeClr val="tx1"/>
                </a:solidFill>
                <a:effectLst/>
                <a:latin typeface="system-ui"/>
              </a:rPr>
              <a:t>STEP-1: Starting with the first element(index = 0), compare the current element with the next element of the array.</a:t>
            </a:r>
          </a:p>
          <a:p>
            <a:pPr marL="36900" indent="0" algn="l">
              <a:buNone/>
            </a:pPr>
            <a:r>
              <a:rPr lang="en-US" dirty="0">
                <a:solidFill>
                  <a:schemeClr val="tx1"/>
                </a:solidFill>
                <a:effectLst/>
                <a:latin typeface="system-ui"/>
              </a:rPr>
              <a:t>STEP-2: </a:t>
            </a:r>
            <a:r>
              <a:rPr lang="en-US" b="0" i="0" dirty="0">
                <a:solidFill>
                  <a:schemeClr val="tx1"/>
                </a:solidFill>
                <a:effectLst/>
                <a:latin typeface="system-ui"/>
              </a:rPr>
              <a:t>If the current element is greater than the next element of the array, swap them.</a:t>
            </a:r>
          </a:p>
          <a:p>
            <a:pPr marL="36900" indent="0" algn="l">
              <a:buNone/>
            </a:pPr>
            <a:r>
              <a:rPr lang="en-US" dirty="0">
                <a:solidFill>
                  <a:schemeClr val="tx1"/>
                </a:solidFill>
                <a:effectLst/>
                <a:latin typeface="system-ui"/>
              </a:rPr>
              <a:t>STEP-3: </a:t>
            </a:r>
            <a:r>
              <a:rPr lang="en-US" b="0" i="0" dirty="0">
                <a:solidFill>
                  <a:schemeClr val="tx1"/>
                </a:solidFill>
                <a:effectLst/>
                <a:latin typeface="system-ui"/>
              </a:rPr>
              <a:t>If the current element is less than the next element, move to the next element. </a:t>
            </a:r>
            <a:r>
              <a:rPr lang="en-US" i="0" dirty="0">
                <a:solidFill>
                  <a:schemeClr val="tx1"/>
                </a:solidFill>
                <a:effectLst/>
                <a:latin typeface="system-ui"/>
              </a:rPr>
              <a:t>Repeat Step 1.</a:t>
            </a:r>
          </a:p>
          <a:p>
            <a:endParaRPr lang="en-IN" dirty="0"/>
          </a:p>
        </p:txBody>
      </p:sp>
    </p:spTree>
    <p:extLst>
      <p:ext uri="{BB962C8B-B14F-4D97-AF65-F5344CB8AC3E}">
        <p14:creationId xmlns:p14="http://schemas.microsoft.com/office/powerpoint/2010/main" val="438962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BD9DD-DAF4-4638-8FAC-E4D90ABFDB15}"/>
              </a:ext>
            </a:extLst>
          </p:cNvPr>
          <p:cNvSpPr>
            <a:spLocks noGrp="1"/>
          </p:cNvSpPr>
          <p:nvPr>
            <p:ph type="title"/>
          </p:nvPr>
        </p:nvSpPr>
        <p:spPr>
          <a:xfrm>
            <a:off x="714375" y="457200"/>
            <a:ext cx="10353762" cy="1257300"/>
          </a:xfrm>
        </p:spPr>
        <p:txBody>
          <a:bodyPr>
            <a:normAutofit/>
          </a:bodyPr>
          <a:lstStyle/>
          <a:p>
            <a:pPr algn="l"/>
            <a:r>
              <a:rPr lang="en-US" b="0" i="0" dirty="0">
                <a:solidFill>
                  <a:schemeClr val="tx1"/>
                </a:solidFill>
                <a:effectLst/>
                <a:latin typeface="system-ui"/>
              </a:rPr>
              <a:t>Complexity Analysis of Bubble Sort:</a:t>
            </a:r>
            <a:endParaRPr lang="en-IN" dirty="0"/>
          </a:p>
        </p:txBody>
      </p:sp>
      <p:sp>
        <p:nvSpPr>
          <p:cNvPr id="6" name="TextBox 5">
            <a:extLst>
              <a:ext uri="{FF2B5EF4-FFF2-40B4-BE49-F238E27FC236}">
                <a16:creationId xmlns:a16="http://schemas.microsoft.com/office/drawing/2014/main" id="{D1563FB0-A16B-4A66-B816-CD75865CD25B}"/>
              </a:ext>
            </a:extLst>
          </p:cNvPr>
          <p:cNvSpPr txBox="1"/>
          <p:nvPr/>
        </p:nvSpPr>
        <p:spPr>
          <a:xfrm>
            <a:off x="390525" y="1714500"/>
            <a:ext cx="11087100" cy="3970318"/>
          </a:xfrm>
          <a:prstGeom prst="rect">
            <a:avLst/>
          </a:prstGeom>
          <a:noFill/>
        </p:spPr>
        <p:txBody>
          <a:bodyPr wrap="square" rtlCol="0">
            <a:spAutoFit/>
          </a:bodyPr>
          <a:lstStyle/>
          <a:p>
            <a:r>
              <a:rPr kumimoji="0" lang="en-US" altLang="en-US" sz="2800" b="0" i="0" u="none" strike="noStrike" cap="none" normalizeH="0" baseline="0" dirty="0">
                <a:ln>
                  <a:noFill/>
                </a:ln>
                <a:effectLst/>
                <a:latin typeface="system-ui"/>
              </a:rPr>
              <a:t>In Bubble Sort, </a:t>
            </a:r>
            <a:r>
              <a:rPr kumimoji="0" lang="en-US" altLang="en-US" sz="2800" b="0" i="0" u="none" strike="noStrike" cap="none" normalizeH="0" baseline="0" dirty="0">
                <a:ln>
                  <a:noFill/>
                </a:ln>
                <a:effectLst/>
                <a:latin typeface="var(--bs-font-monospace)"/>
              </a:rPr>
              <a:t>n-1</a:t>
            </a:r>
            <a:r>
              <a:rPr kumimoji="0" lang="en-US" altLang="en-US" sz="2800" b="0" i="0" u="none" strike="noStrike" cap="none" normalizeH="0" baseline="0" dirty="0">
                <a:ln>
                  <a:noFill/>
                </a:ln>
                <a:effectLst/>
                <a:latin typeface="system-ui"/>
              </a:rPr>
              <a:t> comparisons will be done in the 1st pass, </a:t>
            </a:r>
            <a:r>
              <a:rPr kumimoji="0" lang="en-US" altLang="en-US" sz="2800" b="0" i="0" u="none" strike="noStrike" cap="none" normalizeH="0" baseline="0" dirty="0">
                <a:ln>
                  <a:noFill/>
                </a:ln>
                <a:effectLst/>
                <a:latin typeface="var(--bs-font-monospace)"/>
              </a:rPr>
              <a:t>n-2</a:t>
            </a:r>
            <a:r>
              <a:rPr kumimoji="0" lang="en-US" altLang="en-US" sz="2800" b="0" i="0" u="none" strike="noStrike" cap="none" normalizeH="0" baseline="0" dirty="0">
                <a:ln>
                  <a:noFill/>
                </a:ln>
                <a:effectLst/>
                <a:latin typeface="system-ui"/>
              </a:rPr>
              <a:t> in 2nd pass, </a:t>
            </a:r>
            <a:r>
              <a:rPr kumimoji="0" lang="en-US" altLang="en-US" sz="2800" b="0" i="0" u="none" strike="noStrike" cap="none" normalizeH="0" baseline="0" dirty="0">
                <a:ln>
                  <a:noFill/>
                </a:ln>
                <a:effectLst/>
                <a:latin typeface="var(--bs-font-monospace)"/>
              </a:rPr>
              <a:t>n-3</a:t>
            </a:r>
            <a:r>
              <a:rPr kumimoji="0" lang="en-US" altLang="en-US" sz="2800" b="0" i="0" u="none" strike="noStrike" cap="none" normalizeH="0" baseline="0" dirty="0">
                <a:ln>
                  <a:noFill/>
                </a:ln>
                <a:effectLst/>
                <a:latin typeface="system-ui"/>
              </a:rPr>
              <a:t> in 3rd pass and so on. So the total number of comparisons will be,</a:t>
            </a:r>
            <a:endParaRPr lang="pt-BR" sz="2800" dirty="0">
              <a:latin typeface="Monaco"/>
            </a:endParaRPr>
          </a:p>
          <a:p>
            <a:r>
              <a:rPr lang="pt-BR" sz="2800" dirty="0">
                <a:latin typeface="Monaco"/>
              </a:rPr>
              <a:t>    (</a:t>
            </a:r>
            <a:r>
              <a:rPr lang="pt-BR" sz="2800" b="0" i="0" dirty="0">
                <a:effectLst/>
                <a:latin typeface="Monaco"/>
              </a:rPr>
              <a:t>n-1) </a:t>
            </a:r>
            <a:r>
              <a:rPr lang="pt-BR" sz="2800" b="0" i="0" dirty="0">
                <a:solidFill>
                  <a:schemeClr val="tx1">
                    <a:lumMod val="95000"/>
                  </a:schemeClr>
                </a:solidFill>
                <a:effectLst/>
                <a:latin typeface="Monaco"/>
              </a:rPr>
              <a:t>+ (n-2) + (n-3) + ..... + 3 + 2 + 1 Sum = n(n-1)/2 i.e O(n</a:t>
            </a:r>
            <a:r>
              <a:rPr lang="pt-BR" sz="2800" b="0" i="0" baseline="30000" dirty="0">
                <a:solidFill>
                  <a:schemeClr val="tx1">
                    <a:lumMod val="95000"/>
                  </a:schemeClr>
                </a:solidFill>
                <a:effectLst/>
                <a:latin typeface="Monaco"/>
              </a:rPr>
              <a:t>2</a:t>
            </a:r>
            <a:r>
              <a:rPr lang="pt-BR" sz="2800" b="0" i="0" dirty="0">
                <a:solidFill>
                  <a:schemeClr val="tx1">
                    <a:lumMod val="95000"/>
                  </a:schemeClr>
                </a:solidFill>
                <a:effectLst/>
                <a:latin typeface="Monaco"/>
              </a:rPr>
              <a:t>)</a:t>
            </a:r>
          </a:p>
          <a:p>
            <a:endParaRPr lang="pt-BR" sz="2800" dirty="0">
              <a:solidFill>
                <a:schemeClr val="tx1">
                  <a:lumMod val="95000"/>
                </a:schemeClr>
              </a:solidFill>
              <a:latin typeface="Monaco"/>
            </a:endParaRPr>
          </a:p>
          <a:p>
            <a:pPr algn="l"/>
            <a:r>
              <a:rPr lang="en-US" sz="2800" b="0" i="0" dirty="0">
                <a:effectLst/>
                <a:latin typeface="system-ui"/>
              </a:rPr>
              <a:t>Worst Case Time Complexity [ Big-O ]: </a:t>
            </a:r>
            <a:r>
              <a:rPr lang="en-US" sz="2800" b="1" i="0" dirty="0">
                <a:effectLst/>
                <a:latin typeface="system-ui"/>
              </a:rPr>
              <a:t>O(n</a:t>
            </a:r>
            <a:r>
              <a:rPr lang="en-US" sz="2800" b="1" i="0" baseline="30000" dirty="0">
                <a:effectLst/>
                <a:latin typeface="system-ui"/>
              </a:rPr>
              <a:t>2</a:t>
            </a:r>
            <a:r>
              <a:rPr lang="en-US" sz="2800" b="1" i="0" dirty="0">
                <a:effectLst/>
                <a:latin typeface="system-ui"/>
              </a:rPr>
              <a:t>)</a:t>
            </a:r>
            <a:endParaRPr lang="en-US" sz="2800" b="0" i="0" dirty="0">
              <a:effectLst/>
              <a:latin typeface="system-ui"/>
            </a:endParaRPr>
          </a:p>
          <a:p>
            <a:pPr algn="l">
              <a:buFont typeface="Arial" panose="020B0604020202020204" pitchFamily="34" charset="0"/>
              <a:buChar char="•"/>
            </a:pPr>
            <a:r>
              <a:rPr lang="en-US" sz="2800" b="0" i="0" dirty="0">
                <a:effectLst/>
                <a:latin typeface="system-ui"/>
              </a:rPr>
              <a:t>Best Case Time Complexity [Big-omega]: </a:t>
            </a:r>
            <a:r>
              <a:rPr lang="en-US" sz="2800" b="1" i="0" dirty="0">
                <a:effectLst/>
                <a:latin typeface="system-ui"/>
              </a:rPr>
              <a:t>O(n)</a:t>
            </a:r>
            <a:endParaRPr lang="en-US" sz="2800" b="0" i="0" dirty="0">
              <a:effectLst/>
              <a:latin typeface="system-ui"/>
            </a:endParaRPr>
          </a:p>
          <a:p>
            <a:pPr algn="l">
              <a:buFont typeface="Arial" panose="020B0604020202020204" pitchFamily="34" charset="0"/>
              <a:buChar char="•"/>
            </a:pPr>
            <a:r>
              <a:rPr lang="en-US" sz="2800" b="0" i="0" dirty="0">
                <a:effectLst/>
                <a:latin typeface="system-ui"/>
              </a:rPr>
              <a:t>Average Time Complexity [Big-theta]: </a:t>
            </a:r>
            <a:r>
              <a:rPr lang="en-US" sz="2800" b="1" i="0" dirty="0">
                <a:effectLst/>
                <a:latin typeface="system-ui"/>
              </a:rPr>
              <a:t>O(n</a:t>
            </a:r>
            <a:r>
              <a:rPr lang="en-US" sz="2800" b="1" i="0" baseline="30000" dirty="0">
                <a:effectLst/>
                <a:latin typeface="system-ui"/>
              </a:rPr>
              <a:t>2</a:t>
            </a:r>
            <a:r>
              <a:rPr lang="en-US" sz="2800" b="1" i="0" dirty="0">
                <a:effectLst/>
                <a:latin typeface="system-ui"/>
              </a:rPr>
              <a:t>)</a:t>
            </a:r>
            <a:endParaRPr lang="en-US" sz="2800" b="0" i="0" dirty="0">
              <a:effectLst/>
              <a:latin typeface="system-ui"/>
            </a:endParaRPr>
          </a:p>
          <a:p>
            <a:pPr algn="l">
              <a:buFont typeface="Arial" panose="020B0604020202020204" pitchFamily="34" charset="0"/>
              <a:buChar char="•"/>
            </a:pPr>
            <a:r>
              <a:rPr lang="en-US" sz="2800" b="0" i="0" dirty="0">
                <a:effectLst/>
                <a:latin typeface="system-ui"/>
              </a:rPr>
              <a:t>Space Complexity: </a:t>
            </a:r>
            <a:r>
              <a:rPr lang="en-US" sz="2800" b="1" i="0" dirty="0">
                <a:effectLst/>
                <a:latin typeface="system-ui"/>
              </a:rPr>
              <a:t>O(1)</a:t>
            </a:r>
            <a:endParaRPr lang="en-US" sz="2800" b="0" i="0" dirty="0">
              <a:effectLst/>
              <a:latin typeface="system-ui"/>
            </a:endParaRPr>
          </a:p>
          <a:p>
            <a:endParaRPr lang="en-IN" sz="2800" dirty="0">
              <a:solidFill>
                <a:schemeClr val="tx1">
                  <a:lumMod val="95000"/>
                </a:schemeClr>
              </a:solidFill>
            </a:endParaRPr>
          </a:p>
        </p:txBody>
      </p:sp>
    </p:spTree>
    <p:extLst>
      <p:ext uri="{BB962C8B-B14F-4D97-AF65-F5344CB8AC3E}">
        <p14:creationId xmlns:p14="http://schemas.microsoft.com/office/powerpoint/2010/main" val="2395939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CB775-F507-46D7-B54A-6CF481B0070A}"/>
              </a:ext>
            </a:extLst>
          </p:cNvPr>
          <p:cNvSpPr>
            <a:spLocks noGrp="1"/>
          </p:cNvSpPr>
          <p:nvPr>
            <p:ph type="ctrTitle"/>
          </p:nvPr>
        </p:nvSpPr>
        <p:spPr>
          <a:xfrm>
            <a:off x="1446893" y="121715"/>
            <a:ext cx="9440034" cy="1828801"/>
          </a:xfrm>
        </p:spPr>
        <p:txBody>
          <a:bodyPr/>
          <a:lstStyle/>
          <a:p>
            <a:r>
              <a:rPr lang="en-US" dirty="0">
                <a:solidFill>
                  <a:schemeClr val="tx1"/>
                </a:solidFill>
              </a:rPr>
              <a:t>INSERTION SORT</a:t>
            </a:r>
            <a:br>
              <a:rPr lang="en-US" dirty="0"/>
            </a:br>
            <a:endParaRPr lang="en-IN" dirty="0"/>
          </a:p>
        </p:txBody>
      </p:sp>
      <p:sp>
        <p:nvSpPr>
          <p:cNvPr id="3" name="Subtitle 2">
            <a:extLst>
              <a:ext uri="{FF2B5EF4-FFF2-40B4-BE49-F238E27FC236}">
                <a16:creationId xmlns:a16="http://schemas.microsoft.com/office/drawing/2014/main" id="{400E5268-44B7-4FCE-8C42-842A377F2A16}"/>
              </a:ext>
            </a:extLst>
          </p:cNvPr>
          <p:cNvSpPr>
            <a:spLocks noGrp="1"/>
          </p:cNvSpPr>
          <p:nvPr>
            <p:ph type="subTitle" idx="1"/>
          </p:nvPr>
        </p:nvSpPr>
        <p:spPr/>
        <p:txBody>
          <a:bodyPr/>
          <a:lstStyle/>
          <a:p>
            <a:endParaRPr lang="en-IN" dirty="0"/>
          </a:p>
        </p:txBody>
      </p:sp>
      <p:pic>
        <p:nvPicPr>
          <p:cNvPr id="4" name="JAMM and 8 more pages - Personal - Microsoft​ Edge 2022-01-08 13-43-06">
            <a:hlinkClick r:id="" action="ppaction://media"/>
            <a:extLst>
              <a:ext uri="{FF2B5EF4-FFF2-40B4-BE49-F238E27FC236}">
                <a16:creationId xmlns:a16="http://schemas.microsoft.com/office/drawing/2014/main" id="{D4919DC9-0B1D-427C-9DD4-ECE112B3B20A}"/>
              </a:ext>
            </a:extLst>
          </p:cNvPr>
          <p:cNvPicPr>
            <a:picLocks noChangeAspect="1"/>
          </p:cNvPicPr>
          <p:nvPr>
            <a:videoFile r:link="rId1"/>
            <p:extLst>
              <p:ext uri="{DAA4B4D4-6D71-4841-9C94-3DE7FCFB9230}">
                <p14:media xmlns:p14="http://schemas.microsoft.com/office/powerpoint/2010/main" r:embed="rId2">
                  <p14:trim st="31587" end="26005.8666"/>
                </p14:media>
              </p:ext>
            </p:extLst>
          </p:nvPr>
        </p:nvPicPr>
        <p:blipFill rotWithShape="1">
          <a:blip r:embed="rId4"/>
          <a:srcRect l="1" t="10396" r="-1341"/>
          <a:stretch/>
        </p:blipFill>
        <p:spPr>
          <a:xfrm>
            <a:off x="1634798" y="1644651"/>
            <a:ext cx="9064224" cy="42576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32094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81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ADD84-1908-498F-A74C-859AA6DC52F1}"/>
              </a:ext>
            </a:extLst>
          </p:cNvPr>
          <p:cNvSpPr>
            <a:spLocks noGrp="1"/>
          </p:cNvSpPr>
          <p:nvPr>
            <p:ph type="ctrTitle"/>
          </p:nvPr>
        </p:nvSpPr>
        <p:spPr>
          <a:xfrm>
            <a:off x="-304800" y="-106885"/>
            <a:ext cx="11982450" cy="1828801"/>
          </a:xfrm>
        </p:spPr>
        <p:txBody>
          <a:bodyPr/>
          <a:lstStyle/>
          <a:p>
            <a:r>
              <a:rPr lang="en-IN" b="0" i="0" dirty="0">
                <a:solidFill>
                  <a:schemeClr val="tx1">
                    <a:lumMod val="95000"/>
                  </a:schemeClr>
                </a:solidFill>
                <a:effectLst/>
                <a:latin typeface="system-ui"/>
              </a:rPr>
              <a:t>Implementing Insertion Sort Algorithm:</a:t>
            </a:r>
            <a:endParaRPr lang="en-IN" dirty="0"/>
          </a:p>
        </p:txBody>
      </p:sp>
      <p:sp>
        <p:nvSpPr>
          <p:cNvPr id="3" name="Subtitle 2">
            <a:extLst>
              <a:ext uri="{FF2B5EF4-FFF2-40B4-BE49-F238E27FC236}">
                <a16:creationId xmlns:a16="http://schemas.microsoft.com/office/drawing/2014/main" id="{22EE5F92-908F-4140-8568-4232503F2CC0}"/>
              </a:ext>
            </a:extLst>
          </p:cNvPr>
          <p:cNvSpPr>
            <a:spLocks noGrp="1"/>
          </p:cNvSpPr>
          <p:nvPr>
            <p:ph type="subTitle" idx="1"/>
          </p:nvPr>
        </p:nvSpPr>
        <p:spPr>
          <a:xfrm>
            <a:off x="238125" y="1638301"/>
            <a:ext cx="11068050" cy="4581524"/>
          </a:xfrm>
        </p:spPr>
        <p:txBody>
          <a:bodyPr>
            <a:noAutofit/>
          </a:bodyPr>
          <a:lstStyle/>
          <a:p>
            <a:pPr algn="l"/>
            <a:r>
              <a:rPr lang="en-US" sz="2000" dirty="0">
                <a:latin typeface="system-ui"/>
              </a:rPr>
              <a:t>Following are the steps involved in insertion sort:</a:t>
            </a:r>
          </a:p>
          <a:p>
            <a:pPr algn="l"/>
            <a:r>
              <a:rPr lang="en-US" sz="2000" b="1" dirty="0">
                <a:latin typeface="system-ui"/>
              </a:rPr>
              <a:t>STEP-1:</a:t>
            </a:r>
            <a:r>
              <a:rPr lang="en-US" sz="2000" dirty="0">
                <a:latin typeface="system-ui"/>
              </a:rPr>
              <a:t>We start by making the second element of the given array, i.e. element at index 1, the key. The key element here is the new card that we need to add to our existing sorted set of cards(remember the example with cards above).</a:t>
            </a:r>
          </a:p>
          <a:p>
            <a:pPr algn="l"/>
            <a:r>
              <a:rPr lang="en-US" sz="2000" b="1" dirty="0">
                <a:latin typeface="system-ui"/>
              </a:rPr>
              <a:t>STEP-2:</a:t>
            </a:r>
            <a:r>
              <a:rPr lang="en-US" sz="2000" dirty="0">
                <a:latin typeface="system-ui"/>
              </a:rPr>
              <a:t>We compare the key element with the element(s) before it, in this case, element at index 0:</a:t>
            </a:r>
          </a:p>
          <a:p>
            <a:pPr algn="l"/>
            <a:r>
              <a:rPr lang="en-US" sz="2000" dirty="0">
                <a:latin typeface="system-ui"/>
              </a:rPr>
              <a:t>If the key element is less than the first element, we insert the key element before the first element.</a:t>
            </a:r>
          </a:p>
          <a:p>
            <a:pPr algn="l"/>
            <a:r>
              <a:rPr lang="en-US" sz="2000" dirty="0">
                <a:latin typeface="system-ui"/>
              </a:rPr>
              <a:t>If the key element is greater than the first element, then we insert it after the first element.</a:t>
            </a:r>
          </a:p>
          <a:p>
            <a:pPr algn="l"/>
            <a:r>
              <a:rPr lang="en-US" sz="2000" b="1" dirty="0">
                <a:latin typeface="system-ui"/>
              </a:rPr>
              <a:t>STEP-3:</a:t>
            </a:r>
            <a:r>
              <a:rPr lang="en-US" sz="2000" dirty="0">
                <a:latin typeface="system-ui"/>
              </a:rPr>
              <a:t>Then, we make the third element of the array as key and will compare it with elements to it's left and insert it at the right position.</a:t>
            </a:r>
          </a:p>
          <a:p>
            <a:pPr algn="l"/>
            <a:r>
              <a:rPr lang="en-US" sz="2000" b="1" dirty="0">
                <a:latin typeface="system-ui"/>
              </a:rPr>
              <a:t>STEP-4:</a:t>
            </a:r>
            <a:r>
              <a:rPr lang="en-US" sz="2000" dirty="0">
                <a:latin typeface="system-ui"/>
              </a:rPr>
              <a:t>And we go on repeating this, until the array is sorted.</a:t>
            </a:r>
            <a:endParaRPr lang="en-IN" sz="2000" dirty="0">
              <a:latin typeface="system-ui"/>
            </a:endParaRPr>
          </a:p>
        </p:txBody>
      </p:sp>
    </p:spTree>
    <p:extLst>
      <p:ext uri="{BB962C8B-B14F-4D97-AF65-F5344CB8AC3E}">
        <p14:creationId xmlns:p14="http://schemas.microsoft.com/office/powerpoint/2010/main" val="2761407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7968F-9923-4988-8E65-8256D628AA13}"/>
              </a:ext>
            </a:extLst>
          </p:cNvPr>
          <p:cNvSpPr>
            <a:spLocks noGrp="1"/>
          </p:cNvSpPr>
          <p:nvPr>
            <p:ph type="ctrTitle"/>
          </p:nvPr>
        </p:nvSpPr>
        <p:spPr>
          <a:xfrm>
            <a:off x="536082" y="550332"/>
            <a:ext cx="11074893" cy="1828801"/>
          </a:xfrm>
        </p:spPr>
        <p:txBody>
          <a:bodyPr>
            <a:normAutofit/>
          </a:bodyPr>
          <a:lstStyle/>
          <a:p>
            <a:pPr algn="l"/>
            <a:r>
              <a:rPr lang="en-US" sz="3600" b="1" i="0" dirty="0">
                <a:solidFill>
                  <a:schemeClr val="tx1"/>
                </a:solidFill>
                <a:effectLst/>
                <a:latin typeface="system-ui"/>
              </a:rPr>
              <a:t>COMPLEXITY ANALYSIS OF </a:t>
            </a:r>
            <a:r>
              <a:rPr lang="en-US" sz="3600" b="1" dirty="0">
                <a:solidFill>
                  <a:schemeClr val="tx1"/>
                </a:solidFill>
                <a:effectLst/>
                <a:latin typeface="system-ui"/>
              </a:rPr>
              <a:t>INSERTION</a:t>
            </a:r>
            <a:r>
              <a:rPr lang="en-US" sz="3600" b="1" i="0" dirty="0">
                <a:solidFill>
                  <a:schemeClr val="tx1"/>
                </a:solidFill>
                <a:effectLst/>
                <a:latin typeface="system-ui"/>
              </a:rPr>
              <a:t> SORT ALGORITHM:</a:t>
            </a:r>
            <a:endParaRPr lang="en-US" sz="3600" b="0" i="0" dirty="0">
              <a:solidFill>
                <a:schemeClr val="tx1"/>
              </a:solidFill>
              <a:effectLst/>
              <a:latin typeface="system-ui"/>
            </a:endParaRPr>
          </a:p>
        </p:txBody>
      </p:sp>
      <p:sp>
        <p:nvSpPr>
          <p:cNvPr id="3" name="Subtitle 2">
            <a:extLst>
              <a:ext uri="{FF2B5EF4-FFF2-40B4-BE49-F238E27FC236}">
                <a16:creationId xmlns:a16="http://schemas.microsoft.com/office/drawing/2014/main" id="{23225D77-B4C5-4285-B16B-EF71CFCB6BDA}"/>
              </a:ext>
            </a:extLst>
          </p:cNvPr>
          <p:cNvSpPr>
            <a:spLocks noGrp="1"/>
          </p:cNvSpPr>
          <p:nvPr>
            <p:ph type="subTitle" idx="1"/>
          </p:nvPr>
        </p:nvSpPr>
        <p:spPr>
          <a:xfrm>
            <a:off x="1173276" y="2712508"/>
            <a:ext cx="9440034" cy="1049867"/>
          </a:xfrm>
        </p:spPr>
        <p:txBody>
          <a:bodyPr>
            <a:normAutofit fontScale="25000" lnSpcReduction="20000"/>
          </a:bodyPr>
          <a:lstStyle/>
          <a:p>
            <a:pPr algn="l"/>
            <a:r>
              <a:rPr lang="en-US" sz="9600" b="0" i="0" dirty="0">
                <a:effectLst/>
                <a:latin typeface="system-ui"/>
              </a:rPr>
              <a:t>Worst Case Time Complexity [ Big-O ]: </a:t>
            </a:r>
            <a:r>
              <a:rPr lang="en-US" sz="9600" b="1" i="0" dirty="0">
                <a:effectLst/>
                <a:latin typeface="system-ui"/>
              </a:rPr>
              <a:t>O(n</a:t>
            </a:r>
            <a:r>
              <a:rPr lang="en-US" sz="9600" b="1" i="0" baseline="30000" dirty="0">
                <a:effectLst/>
                <a:latin typeface="system-ui"/>
              </a:rPr>
              <a:t>2</a:t>
            </a:r>
            <a:r>
              <a:rPr lang="en-US" sz="9600" b="1" i="0" dirty="0">
                <a:effectLst/>
                <a:latin typeface="system-ui"/>
              </a:rPr>
              <a:t>)</a:t>
            </a:r>
            <a:endParaRPr lang="en-US" sz="9600" b="0" i="0" dirty="0">
              <a:effectLst/>
              <a:latin typeface="system-ui"/>
            </a:endParaRPr>
          </a:p>
          <a:p>
            <a:pPr algn="l"/>
            <a:r>
              <a:rPr lang="en-US" sz="9600" b="0" i="0" dirty="0">
                <a:effectLst/>
                <a:latin typeface="system-ui"/>
              </a:rPr>
              <a:t>Best Case Time Complexity [Big-omega]: </a:t>
            </a:r>
            <a:r>
              <a:rPr lang="en-US" sz="9600" b="1" i="0" dirty="0">
                <a:effectLst/>
                <a:latin typeface="system-ui"/>
              </a:rPr>
              <a:t>O(n)</a:t>
            </a:r>
            <a:endParaRPr lang="en-US" sz="9600" b="0" i="0" dirty="0">
              <a:effectLst/>
              <a:latin typeface="system-ui"/>
            </a:endParaRPr>
          </a:p>
          <a:p>
            <a:pPr algn="l"/>
            <a:r>
              <a:rPr lang="en-US" sz="9600" b="0" i="0" dirty="0">
                <a:effectLst/>
                <a:latin typeface="system-ui"/>
              </a:rPr>
              <a:t>Average Time Complexity [Big-theta]: </a:t>
            </a:r>
            <a:r>
              <a:rPr lang="en-US" sz="9600" b="1" i="0" dirty="0">
                <a:effectLst/>
                <a:latin typeface="system-ui"/>
              </a:rPr>
              <a:t>O(n</a:t>
            </a:r>
            <a:r>
              <a:rPr lang="en-US" sz="9600" b="1" i="0" baseline="30000" dirty="0">
                <a:effectLst/>
                <a:latin typeface="system-ui"/>
              </a:rPr>
              <a:t>2</a:t>
            </a:r>
            <a:r>
              <a:rPr lang="en-US" sz="9600" b="1" i="0" dirty="0">
                <a:effectLst/>
                <a:latin typeface="system-ui"/>
              </a:rPr>
              <a:t>)</a:t>
            </a:r>
            <a:endParaRPr lang="en-US" sz="9600" b="0" i="0" dirty="0">
              <a:effectLst/>
              <a:latin typeface="system-ui"/>
            </a:endParaRPr>
          </a:p>
          <a:p>
            <a:pPr algn="l"/>
            <a:r>
              <a:rPr lang="en-US" sz="9600" b="0" i="0" dirty="0">
                <a:effectLst/>
                <a:latin typeface="system-ui"/>
              </a:rPr>
              <a:t>Space Complexity: </a:t>
            </a:r>
            <a:r>
              <a:rPr lang="en-US" sz="9600" b="1" i="0" dirty="0">
                <a:effectLst/>
                <a:latin typeface="system-ui"/>
              </a:rPr>
              <a:t>O(1)</a:t>
            </a:r>
            <a:endParaRPr lang="en-US" sz="9600" b="0" i="0" dirty="0">
              <a:effectLst/>
              <a:latin typeface="system-ui"/>
            </a:endParaRPr>
          </a:p>
          <a:p>
            <a:endParaRPr lang="en-IN" dirty="0"/>
          </a:p>
        </p:txBody>
      </p:sp>
    </p:spTree>
    <p:extLst>
      <p:ext uri="{BB962C8B-B14F-4D97-AF65-F5344CB8AC3E}">
        <p14:creationId xmlns:p14="http://schemas.microsoft.com/office/powerpoint/2010/main" val="2305323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15D6B-E26B-4781-944B-8E5F0D824C26}"/>
              </a:ext>
            </a:extLst>
          </p:cNvPr>
          <p:cNvSpPr>
            <a:spLocks noGrp="1"/>
          </p:cNvSpPr>
          <p:nvPr>
            <p:ph type="ctrTitle"/>
          </p:nvPr>
        </p:nvSpPr>
        <p:spPr>
          <a:xfrm>
            <a:off x="1449351" y="-214733"/>
            <a:ext cx="9440034" cy="1828801"/>
          </a:xfrm>
        </p:spPr>
        <p:txBody>
          <a:bodyPr/>
          <a:lstStyle/>
          <a:p>
            <a:r>
              <a:rPr lang="en-US" dirty="0">
                <a:solidFill>
                  <a:schemeClr val="tx1"/>
                </a:solidFill>
              </a:rPr>
              <a:t>SELECTION SORT</a:t>
            </a:r>
            <a:endParaRPr lang="en-IN" dirty="0">
              <a:solidFill>
                <a:schemeClr val="tx1"/>
              </a:solidFill>
            </a:endParaRPr>
          </a:p>
        </p:txBody>
      </p:sp>
      <p:sp>
        <p:nvSpPr>
          <p:cNvPr id="3" name="Subtitle 2">
            <a:extLst>
              <a:ext uri="{FF2B5EF4-FFF2-40B4-BE49-F238E27FC236}">
                <a16:creationId xmlns:a16="http://schemas.microsoft.com/office/drawing/2014/main" id="{452F5815-F51C-495B-8C9A-3827E5BEF65D}"/>
              </a:ext>
            </a:extLst>
          </p:cNvPr>
          <p:cNvSpPr>
            <a:spLocks noGrp="1"/>
          </p:cNvSpPr>
          <p:nvPr>
            <p:ph type="subTitle" idx="1"/>
          </p:nvPr>
        </p:nvSpPr>
        <p:spPr/>
        <p:txBody>
          <a:bodyPr/>
          <a:lstStyle/>
          <a:p>
            <a:endParaRPr lang="en-IN" dirty="0"/>
          </a:p>
        </p:txBody>
      </p:sp>
      <p:pic>
        <p:nvPicPr>
          <p:cNvPr id="4" name="JAMM and 8 more pages - Personal - Microsoft​ Edge 2022-01-08 13-43-06">
            <a:hlinkClick r:id="" action="ppaction://media"/>
            <a:extLst>
              <a:ext uri="{FF2B5EF4-FFF2-40B4-BE49-F238E27FC236}">
                <a16:creationId xmlns:a16="http://schemas.microsoft.com/office/drawing/2014/main" id="{AE0BA30B-AEDE-457F-9DF0-F8854CD941CF}"/>
              </a:ext>
            </a:extLst>
          </p:cNvPr>
          <p:cNvPicPr>
            <a:picLocks noChangeAspect="1"/>
          </p:cNvPicPr>
          <p:nvPr>
            <a:videoFile r:link="rId1"/>
            <p:extLst>
              <p:ext uri="{DAA4B4D4-6D71-4841-9C94-3DE7FCFB9230}">
                <p14:media xmlns:p14="http://schemas.microsoft.com/office/powerpoint/2010/main" r:embed="rId2">
                  <p14:trim st="22723" end="38780.8666"/>
                </p14:media>
              </p:ext>
            </p:extLst>
          </p:nvPr>
        </p:nvPicPr>
        <p:blipFill rotWithShape="1">
          <a:blip r:embed="rId4"/>
          <a:srcRect t="10705" r="339"/>
          <a:stretch/>
        </p:blipFill>
        <p:spPr>
          <a:xfrm>
            <a:off x="1756287" y="1952625"/>
            <a:ext cx="9447360" cy="4496910"/>
          </a:xfrm>
          <a:prstGeom prst="rect">
            <a:avLst/>
          </a:prstGeom>
        </p:spPr>
      </p:pic>
    </p:spTree>
    <p:extLst>
      <p:ext uri="{BB962C8B-B14F-4D97-AF65-F5344CB8AC3E}">
        <p14:creationId xmlns:p14="http://schemas.microsoft.com/office/powerpoint/2010/main" val="771196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90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90D94-EB06-48E9-AB4B-236B0047C1A2}"/>
              </a:ext>
            </a:extLst>
          </p:cNvPr>
          <p:cNvSpPr>
            <a:spLocks noGrp="1"/>
          </p:cNvSpPr>
          <p:nvPr>
            <p:ph type="title"/>
          </p:nvPr>
        </p:nvSpPr>
        <p:spPr>
          <a:xfrm>
            <a:off x="342294" y="390526"/>
            <a:ext cx="10353762" cy="1257300"/>
          </a:xfrm>
        </p:spPr>
        <p:txBody>
          <a:bodyPr/>
          <a:lstStyle/>
          <a:p>
            <a:pPr algn="l"/>
            <a:r>
              <a:rPr lang="en-IN" b="0" i="0" dirty="0">
                <a:solidFill>
                  <a:schemeClr val="tx1">
                    <a:lumMod val="95000"/>
                  </a:schemeClr>
                </a:solidFill>
                <a:effectLst/>
                <a:latin typeface="system-ui"/>
              </a:rPr>
              <a:t>Implementing Selection Sort Algorithm:</a:t>
            </a:r>
            <a:endParaRPr lang="en-IN" dirty="0"/>
          </a:p>
        </p:txBody>
      </p:sp>
      <p:sp>
        <p:nvSpPr>
          <p:cNvPr id="3" name="Content Placeholder 2">
            <a:extLst>
              <a:ext uri="{FF2B5EF4-FFF2-40B4-BE49-F238E27FC236}">
                <a16:creationId xmlns:a16="http://schemas.microsoft.com/office/drawing/2014/main" id="{D12B639B-62B6-4E4E-B958-A6CA6EEA5CF0}"/>
              </a:ext>
            </a:extLst>
          </p:cNvPr>
          <p:cNvSpPr>
            <a:spLocks noGrp="1"/>
          </p:cNvSpPr>
          <p:nvPr>
            <p:ph idx="1"/>
          </p:nvPr>
        </p:nvSpPr>
        <p:spPr>
          <a:xfrm>
            <a:off x="913794" y="2124075"/>
            <a:ext cx="11278205" cy="3714749"/>
          </a:xfrm>
        </p:spPr>
        <p:txBody>
          <a:bodyPr>
            <a:noAutofit/>
          </a:bodyPr>
          <a:lstStyle/>
          <a:p>
            <a:pPr marL="36900" indent="0">
              <a:buNone/>
            </a:pPr>
            <a:r>
              <a:rPr lang="en-US" sz="2400" dirty="0">
                <a:solidFill>
                  <a:schemeClr val="tx1"/>
                </a:solidFill>
                <a:latin typeface="system-ui"/>
              </a:rPr>
              <a:t>Following are the steps involved in selection sort:</a:t>
            </a:r>
          </a:p>
          <a:p>
            <a:pPr marL="36900" indent="0">
              <a:buNone/>
            </a:pPr>
            <a:r>
              <a:rPr lang="en-US" sz="2400" dirty="0">
                <a:solidFill>
                  <a:schemeClr val="tx1"/>
                </a:solidFill>
                <a:latin typeface="system-ui"/>
              </a:rPr>
              <a:t>STEP-1: Starting from the first element, we search the smallest element in the array, and replace it with the element in the first position.</a:t>
            </a:r>
          </a:p>
          <a:p>
            <a:pPr marL="36900" indent="0">
              <a:buNone/>
            </a:pPr>
            <a:r>
              <a:rPr lang="en-US" sz="2400" dirty="0">
                <a:solidFill>
                  <a:schemeClr val="tx1"/>
                </a:solidFill>
                <a:latin typeface="system-ui"/>
              </a:rPr>
              <a:t>STEP-2: We then move on to the second position, and look for smallest element present in the subarray, starting from index 1, till the last index.</a:t>
            </a:r>
          </a:p>
          <a:p>
            <a:pPr marL="36900" indent="0">
              <a:buNone/>
            </a:pPr>
            <a:r>
              <a:rPr lang="en-US" sz="2400" dirty="0">
                <a:solidFill>
                  <a:schemeClr val="tx1"/>
                </a:solidFill>
                <a:latin typeface="system-ui"/>
              </a:rPr>
              <a:t>STEP-3: We replace the element at the second position in the original array, or we can say at the first position in the subarray, with the second smallest element.</a:t>
            </a:r>
          </a:p>
          <a:p>
            <a:pPr marL="36900" indent="0">
              <a:buNone/>
            </a:pPr>
            <a:r>
              <a:rPr lang="en-US" sz="2400" dirty="0">
                <a:solidFill>
                  <a:schemeClr val="tx1"/>
                </a:solidFill>
                <a:latin typeface="system-ui"/>
              </a:rPr>
              <a:t>STEP-4: This is repeated, until the array is completely sorted.</a:t>
            </a:r>
            <a:endParaRPr lang="en-IN" sz="2400" dirty="0">
              <a:solidFill>
                <a:schemeClr val="tx1"/>
              </a:solidFill>
              <a:latin typeface="system-ui"/>
            </a:endParaRPr>
          </a:p>
        </p:txBody>
      </p:sp>
    </p:spTree>
    <p:extLst>
      <p:ext uri="{BB962C8B-B14F-4D97-AF65-F5344CB8AC3E}">
        <p14:creationId xmlns:p14="http://schemas.microsoft.com/office/powerpoint/2010/main" val="1949358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8DDA4-E27D-4D95-94DB-6EDB9AEFE80F}"/>
              </a:ext>
            </a:extLst>
          </p:cNvPr>
          <p:cNvSpPr>
            <a:spLocks noGrp="1"/>
          </p:cNvSpPr>
          <p:nvPr>
            <p:ph type="ctrTitle"/>
          </p:nvPr>
        </p:nvSpPr>
        <p:spPr>
          <a:xfrm>
            <a:off x="266699" y="26465"/>
            <a:ext cx="11344275" cy="1828801"/>
          </a:xfrm>
        </p:spPr>
        <p:txBody>
          <a:bodyPr>
            <a:normAutofit/>
          </a:bodyPr>
          <a:lstStyle/>
          <a:p>
            <a:r>
              <a:rPr lang="en-US" sz="3600" b="1" i="0" dirty="0">
                <a:solidFill>
                  <a:schemeClr val="tx1"/>
                </a:solidFill>
                <a:effectLst/>
                <a:latin typeface="system-ui"/>
              </a:rPr>
              <a:t>COMPLEXITY ANALYSIS OF SELECTION SORT ALGORITHM:</a:t>
            </a:r>
            <a:endParaRPr lang="en-IN" sz="3600" dirty="0"/>
          </a:p>
        </p:txBody>
      </p:sp>
      <p:sp>
        <p:nvSpPr>
          <p:cNvPr id="3" name="Subtitle 2">
            <a:extLst>
              <a:ext uri="{FF2B5EF4-FFF2-40B4-BE49-F238E27FC236}">
                <a16:creationId xmlns:a16="http://schemas.microsoft.com/office/drawing/2014/main" id="{D8F8BA5D-73A4-49D9-8B17-DE89F631E1A0}"/>
              </a:ext>
            </a:extLst>
          </p:cNvPr>
          <p:cNvSpPr>
            <a:spLocks noGrp="1"/>
          </p:cNvSpPr>
          <p:nvPr>
            <p:ph type="subTitle" idx="1"/>
          </p:nvPr>
        </p:nvSpPr>
        <p:spPr>
          <a:xfrm>
            <a:off x="999218" y="2487614"/>
            <a:ext cx="9440034" cy="1049867"/>
          </a:xfrm>
        </p:spPr>
        <p:txBody>
          <a:bodyPr>
            <a:normAutofit fontScale="25000" lnSpcReduction="20000"/>
          </a:bodyPr>
          <a:lstStyle/>
          <a:p>
            <a:pPr algn="l"/>
            <a:r>
              <a:rPr lang="en-US" sz="9600" b="0" i="0" dirty="0">
                <a:effectLst/>
                <a:latin typeface="system-ui"/>
              </a:rPr>
              <a:t>Worst Case Time Complexity [ Big-O ]: </a:t>
            </a:r>
            <a:r>
              <a:rPr lang="en-US" sz="9600" b="1" i="0" dirty="0">
                <a:effectLst/>
                <a:latin typeface="system-ui"/>
              </a:rPr>
              <a:t>O(n</a:t>
            </a:r>
            <a:r>
              <a:rPr lang="en-US" sz="9600" b="1" i="0" baseline="30000" dirty="0">
                <a:effectLst/>
                <a:latin typeface="system-ui"/>
              </a:rPr>
              <a:t>2</a:t>
            </a:r>
            <a:r>
              <a:rPr lang="en-US" sz="9600" b="1" i="0" dirty="0">
                <a:effectLst/>
                <a:latin typeface="system-ui"/>
              </a:rPr>
              <a:t>)</a:t>
            </a:r>
            <a:endParaRPr lang="en-US" sz="9600" b="0" i="0" dirty="0">
              <a:effectLst/>
              <a:latin typeface="system-ui"/>
            </a:endParaRPr>
          </a:p>
          <a:p>
            <a:pPr algn="l"/>
            <a:r>
              <a:rPr lang="en-US" sz="9600" b="0" i="0" dirty="0">
                <a:effectLst/>
                <a:latin typeface="system-ui"/>
              </a:rPr>
              <a:t>Best Case Time Complexity [Big-omega]: </a:t>
            </a:r>
            <a:r>
              <a:rPr lang="en-US" sz="9600" b="1" i="0" dirty="0">
                <a:effectLst/>
                <a:latin typeface="system-ui"/>
              </a:rPr>
              <a:t>O(n</a:t>
            </a:r>
            <a:r>
              <a:rPr lang="en-US" sz="9600" b="1" i="0" baseline="30000" dirty="0">
                <a:effectLst/>
                <a:latin typeface="system-ui"/>
              </a:rPr>
              <a:t>2</a:t>
            </a:r>
            <a:r>
              <a:rPr lang="en-US" sz="9600" b="1" i="0" dirty="0">
                <a:effectLst/>
                <a:latin typeface="system-ui"/>
              </a:rPr>
              <a:t>)</a:t>
            </a:r>
            <a:endParaRPr lang="en-US" sz="9600" b="0" i="0" dirty="0">
              <a:effectLst/>
              <a:latin typeface="system-ui"/>
            </a:endParaRPr>
          </a:p>
          <a:p>
            <a:pPr algn="l"/>
            <a:r>
              <a:rPr lang="en-US" sz="9600" b="0" i="0" dirty="0">
                <a:effectLst/>
                <a:latin typeface="system-ui"/>
              </a:rPr>
              <a:t>Average Time Complexity [Big-theta]: </a:t>
            </a:r>
            <a:r>
              <a:rPr lang="en-US" sz="9600" b="1" i="0" dirty="0">
                <a:effectLst/>
                <a:latin typeface="system-ui"/>
              </a:rPr>
              <a:t>O(n</a:t>
            </a:r>
            <a:r>
              <a:rPr lang="en-US" sz="9600" b="1" i="0" baseline="30000" dirty="0">
                <a:effectLst/>
                <a:latin typeface="system-ui"/>
              </a:rPr>
              <a:t>2</a:t>
            </a:r>
            <a:r>
              <a:rPr lang="en-US" sz="9600" b="1" i="0" dirty="0">
                <a:effectLst/>
                <a:latin typeface="system-ui"/>
              </a:rPr>
              <a:t>)</a:t>
            </a:r>
            <a:endParaRPr lang="en-US" sz="9600" b="0" i="0" dirty="0">
              <a:effectLst/>
              <a:latin typeface="system-ui"/>
            </a:endParaRPr>
          </a:p>
          <a:p>
            <a:pPr algn="l"/>
            <a:r>
              <a:rPr lang="en-US" sz="9600" b="0" i="0" dirty="0">
                <a:effectLst/>
                <a:latin typeface="system-ui"/>
              </a:rPr>
              <a:t>Space Complexity: </a:t>
            </a:r>
            <a:r>
              <a:rPr lang="en-US" sz="9600" b="1" i="0" dirty="0">
                <a:effectLst/>
                <a:latin typeface="system-ui"/>
              </a:rPr>
              <a:t>O(1)</a:t>
            </a:r>
            <a:endParaRPr lang="en-US" sz="9600" b="0" i="0" dirty="0">
              <a:effectLst/>
              <a:latin typeface="system-ui"/>
            </a:endParaRPr>
          </a:p>
          <a:p>
            <a:endParaRPr lang="en-IN" dirty="0"/>
          </a:p>
        </p:txBody>
      </p:sp>
    </p:spTree>
    <p:extLst>
      <p:ext uri="{BB962C8B-B14F-4D97-AF65-F5344CB8AC3E}">
        <p14:creationId xmlns:p14="http://schemas.microsoft.com/office/powerpoint/2010/main" val="1368118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E98C9-E205-4F8D-B192-BF56C57C02F8}"/>
              </a:ext>
            </a:extLst>
          </p:cNvPr>
          <p:cNvSpPr>
            <a:spLocks noGrp="1"/>
          </p:cNvSpPr>
          <p:nvPr>
            <p:ph type="ctrTitle"/>
          </p:nvPr>
        </p:nvSpPr>
        <p:spPr>
          <a:xfrm>
            <a:off x="1370693" y="-132308"/>
            <a:ext cx="9440034" cy="1828801"/>
          </a:xfrm>
        </p:spPr>
        <p:txBody>
          <a:bodyPr/>
          <a:lstStyle/>
          <a:p>
            <a:r>
              <a:rPr lang="en-US" dirty="0">
                <a:solidFill>
                  <a:schemeClr val="tx1"/>
                </a:solidFill>
              </a:rPr>
              <a:t>MERGE SORT</a:t>
            </a:r>
            <a:endParaRPr lang="en-IN" dirty="0">
              <a:solidFill>
                <a:schemeClr val="tx1"/>
              </a:solidFill>
            </a:endParaRPr>
          </a:p>
        </p:txBody>
      </p:sp>
      <p:sp>
        <p:nvSpPr>
          <p:cNvPr id="3" name="Subtitle 2">
            <a:extLst>
              <a:ext uri="{FF2B5EF4-FFF2-40B4-BE49-F238E27FC236}">
                <a16:creationId xmlns:a16="http://schemas.microsoft.com/office/drawing/2014/main" id="{718ECEC3-3215-4F30-9261-E6A0E5892BB3}"/>
              </a:ext>
            </a:extLst>
          </p:cNvPr>
          <p:cNvSpPr>
            <a:spLocks noGrp="1"/>
          </p:cNvSpPr>
          <p:nvPr>
            <p:ph type="subTitle" idx="1"/>
          </p:nvPr>
        </p:nvSpPr>
        <p:spPr/>
        <p:txBody>
          <a:bodyPr/>
          <a:lstStyle/>
          <a:p>
            <a:endParaRPr lang="en-IN" dirty="0"/>
          </a:p>
        </p:txBody>
      </p:sp>
      <p:pic>
        <p:nvPicPr>
          <p:cNvPr id="6" name="JAMM and 8 more pages - Personal - Microsoft​ Edge 2022-01-08 13-43-06">
            <a:hlinkClick r:id="" action="ppaction://media"/>
            <a:extLst>
              <a:ext uri="{FF2B5EF4-FFF2-40B4-BE49-F238E27FC236}">
                <a16:creationId xmlns:a16="http://schemas.microsoft.com/office/drawing/2014/main" id="{BA5070AA-9364-49FF-B8E6-133D2FF72CEA}"/>
              </a:ext>
            </a:extLst>
          </p:cNvPr>
          <p:cNvPicPr>
            <a:picLocks noChangeAspect="1"/>
          </p:cNvPicPr>
          <p:nvPr>
            <a:videoFile r:link="rId1"/>
            <p:extLst>
              <p:ext uri="{DAA4B4D4-6D71-4841-9C94-3DE7FCFB9230}">
                <p14:media xmlns:p14="http://schemas.microsoft.com/office/powerpoint/2010/main" r:embed="rId2">
                  <p14:trim st="43401" end="12915.8666"/>
                </p14:media>
              </p:ext>
            </p:extLst>
          </p:nvPr>
        </p:nvPicPr>
        <p:blipFill rotWithShape="1">
          <a:blip r:embed="rId4"/>
          <a:srcRect t="10270" r="220"/>
          <a:stretch/>
        </p:blipFill>
        <p:spPr>
          <a:xfrm>
            <a:off x="1670223" y="1895475"/>
            <a:ext cx="9627186" cy="459925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62555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09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vol="80000">
                <p:cTn id="12" fill="hold" display="0">
                  <p:stCondLst>
                    <p:cond delay="indefinite"/>
                  </p:stCondLst>
                </p:cTn>
                <p:tgtEl>
                  <p:spTgt spid="6"/>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62831-1D75-4B27-9761-A84D411216F9}"/>
              </a:ext>
            </a:extLst>
          </p:cNvPr>
          <p:cNvSpPr>
            <a:spLocks noGrp="1"/>
          </p:cNvSpPr>
          <p:nvPr>
            <p:ph type="ctrTitle"/>
          </p:nvPr>
        </p:nvSpPr>
        <p:spPr>
          <a:xfrm>
            <a:off x="261936" y="102665"/>
            <a:ext cx="11439525" cy="1828801"/>
          </a:xfrm>
        </p:spPr>
        <p:txBody>
          <a:bodyPr/>
          <a:lstStyle/>
          <a:p>
            <a:r>
              <a:rPr lang="en-IN" b="0" i="0" dirty="0">
                <a:solidFill>
                  <a:schemeClr val="tx1">
                    <a:lumMod val="95000"/>
                  </a:schemeClr>
                </a:solidFill>
                <a:effectLst/>
                <a:latin typeface="system-ui"/>
              </a:rPr>
              <a:t>Implementing Merge Sort Algorithm:</a:t>
            </a:r>
            <a:endParaRPr lang="en-IN" dirty="0"/>
          </a:p>
        </p:txBody>
      </p:sp>
      <p:sp>
        <p:nvSpPr>
          <p:cNvPr id="3" name="Subtitle 2">
            <a:extLst>
              <a:ext uri="{FF2B5EF4-FFF2-40B4-BE49-F238E27FC236}">
                <a16:creationId xmlns:a16="http://schemas.microsoft.com/office/drawing/2014/main" id="{FDA66704-F5B7-4700-A232-B0DA827876EF}"/>
              </a:ext>
            </a:extLst>
          </p:cNvPr>
          <p:cNvSpPr>
            <a:spLocks noGrp="1"/>
          </p:cNvSpPr>
          <p:nvPr>
            <p:ph type="subTitle" idx="1"/>
          </p:nvPr>
        </p:nvSpPr>
        <p:spPr>
          <a:xfrm>
            <a:off x="228601" y="2379133"/>
            <a:ext cx="11963399" cy="1049867"/>
          </a:xfrm>
        </p:spPr>
        <p:txBody>
          <a:bodyPr>
            <a:normAutofit fontScale="25000" lnSpcReduction="20000"/>
          </a:bodyPr>
          <a:lstStyle/>
          <a:p>
            <a:pPr algn="l"/>
            <a:r>
              <a:rPr lang="en-US" sz="9600" dirty="0">
                <a:solidFill>
                  <a:schemeClr val="tx1">
                    <a:lumMod val="95000"/>
                  </a:schemeClr>
                </a:solidFill>
                <a:latin typeface="system-ui"/>
              </a:rPr>
              <a:t>In merge sort we follow the following steps:</a:t>
            </a:r>
          </a:p>
          <a:p>
            <a:pPr algn="l"/>
            <a:r>
              <a:rPr lang="en-US" sz="9600" dirty="0">
                <a:solidFill>
                  <a:schemeClr val="tx1">
                    <a:lumMod val="95000"/>
                  </a:schemeClr>
                </a:solidFill>
                <a:latin typeface="system-ui"/>
              </a:rPr>
              <a:t>STEP-1: We take a variable p and store the starting index of our array in this. And we take another variable r and store the last index of array in it.</a:t>
            </a:r>
          </a:p>
          <a:p>
            <a:pPr algn="l"/>
            <a:r>
              <a:rPr lang="en-US" sz="9600" dirty="0">
                <a:solidFill>
                  <a:schemeClr val="tx1">
                    <a:lumMod val="95000"/>
                  </a:schemeClr>
                </a:solidFill>
                <a:latin typeface="system-ui"/>
              </a:rPr>
              <a:t>STEP-2: Then we find the middle of the array using the formula (p + r)/2 and mark the middle index as q, and break the array into two subarrays, from p to q and from q + 1 to r index.</a:t>
            </a:r>
          </a:p>
          <a:p>
            <a:pPr algn="l"/>
            <a:r>
              <a:rPr lang="en-US" sz="9600" dirty="0">
                <a:solidFill>
                  <a:schemeClr val="tx1">
                    <a:lumMod val="95000"/>
                  </a:schemeClr>
                </a:solidFill>
                <a:latin typeface="system-ui"/>
              </a:rPr>
              <a:t>STEP-3: Then we divide these 2 subarrays again, just like we divided our main array and this continues.</a:t>
            </a:r>
          </a:p>
          <a:p>
            <a:pPr algn="l"/>
            <a:r>
              <a:rPr lang="en-US" sz="9600" dirty="0">
                <a:solidFill>
                  <a:schemeClr val="tx1">
                    <a:lumMod val="95000"/>
                  </a:schemeClr>
                </a:solidFill>
                <a:latin typeface="system-ui"/>
              </a:rPr>
              <a:t>STEP-4: Once we have divided the main array into subarrays with single elements, then we start merging the subarrays.</a:t>
            </a:r>
          </a:p>
          <a:p>
            <a:endParaRPr lang="en-IN" dirty="0"/>
          </a:p>
        </p:txBody>
      </p:sp>
    </p:spTree>
    <p:extLst>
      <p:ext uri="{BB962C8B-B14F-4D97-AF65-F5344CB8AC3E}">
        <p14:creationId xmlns:p14="http://schemas.microsoft.com/office/powerpoint/2010/main" val="491718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B031E-8598-4451-94D3-3DBA788F7040}"/>
              </a:ext>
            </a:extLst>
          </p:cNvPr>
          <p:cNvSpPr>
            <a:spLocks noGrp="1"/>
          </p:cNvSpPr>
          <p:nvPr>
            <p:ph type="ctrTitle"/>
          </p:nvPr>
        </p:nvSpPr>
        <p:spPr>
          <a:xfrm>
            <a:off x="-1219199" y="0"/>
            <a:ext cx="14163674" cy="1828801"/>
          </a:xfrm>
        </p:spPr>
        <p:txBody>
          <a:bodyPr>
            <a:normAutofit/>
          </a:bodyPr>
          <a:lstStyle/>
          <a:p>
            <a:r>
              <a:rPr lang="en-US" sz="4000" b="1" i="0" dirty="0">
                <a:solidFill>
                  <a:schemeClr val="tx1"/>
                </a:solidFill>
                <a:effectLst/>
                <a:latin typeface="system-ui"/>
              </a:rPr>
              <a:t>COMPLEXITY ANALYSIS OF MERGE SORT ALGORITHM:</a:t>
            </a:r>
            <a:endParaRPr lang="en-IN" sz="4000" dirty="0"/>
          </a:p>
        </p:txBody>
      </p:sp>
      <p:sp>
        <p:nvSpPr>
          <p:cNvPr id="3" name="Subtitle 2">
            <a:extLst>
              <a:ext uri="{FF2B5EF4-FFF2-40B4-BE49-F238E27FC236}">
                <a16:creationId xmlns:a16="http://schemas.microsoft.com/office/drawing/2014/main" id="{E4216AF0-1CD9-499E-AC49-521C0C41F139}"/>
              </a:ext>
            </a:extLst>
          </p:cNvPr>
          <p:cNvSpPr>
            <a:spLocks noGrp="1"/>
          </p:cNvSpPr>
          <p:nvPr>
            <p:ph type="subTitle" idx="1"/>
          </p:nvPr>
        </p:nvSpPr>
        <p:spPr>
          <a:xfrm>
            <a:off x="1142621" y="2697164"/>
            <a:ext cx="9440034" cy="1049867"/>
          </a:xfrm>
        </p:spPr>
        <p:txBody>
          <a:bodyPr>
            <a:normAutofit fontScale="25000" lnSpcReduction="20000"/>
          </a:bodyPr>
          <a:lstStyle/>
          <a:p>
            <a:pPr algn="l"/>
            <a:r>
              <a:rPr lang="en-IN" sz="9600" b="0" i="0" dirty="0">
                <a:solidFill>
                  <a:schemeClr val="tx1">
                    <a:lumMod val="95000"/>
                  </a:schemeClr>
                </a:solidFill>
                <a:effectLst/>
                <a:latin typeface="system-ui"/>
              </a:rPr>
              <a:t>Worst Case Time Complexity [ Big-O ]: </a:t>
            </a:r>
            <a:r>
              <a:rPr lang="en-IN" sz="9600" b="1" i="0" dirty="0">
                <a:solidFill>
                  <a:schemeClr val="tx1">
                    <a:lumMod val="95000"/>
                  </a:schemeClr>
                </a:solidFill>
                <a:effectLst/>
                <a:latin typeface="system-ui"/>
              </a:rPr>
              <a:t>O(n*log n)</a:t>
            </a:r>
            <a:endParaRPr lang="en-IN" sz="9600" b="0" i="0" dirty="0">
              <a:solidFill>
                <a:schemeClr val="tx1">
                  <a:lumMod val="95000"/>
                </a:schemeClr>
              </a:solidFill>
              <a:effectLst/>
              <a:latin typeface="system-ui"/>
            </a:endParaRPr>
          </a:p>
          <a:p>
            <a:pPr algn="l"/>
            <a:r>
              <a:rPr lang="en-IN" sz="9600" b="0" i="0" dirty="0">
                <a:solidFill>
                  <a:schemeClr val="tx1">
                    <a:lumMod val="95000"/>
                  </a:schemeClr>
                </a:solidFill>
                <a:effectLst/>
                <a:latin typeface="system-ui"/>
              </a:rPr>
              <a:t>Best Case Time Complexity [Big-omega]: </a:t>
            </a:r>
            <a:r>
              <a:rPr lang="en-IN" sz="9600" b="1" i="0" dirty="0">
                <a:solidFill>
                  <a:schemeClr val="tx1">
                    <a:lumMod val="95000"/>
                  </a:schemeClr>
                </a:solidFill>
                <a:effectLst/>
                <a:latin typeface="system-ui"/>
              </a:rPr>
              <a:t>O(n*log n)</a:t>
            </a:r>
            <a:endParaRPr lang="en-IN" sz="9600" b="0" i="0" dirty="0">
              <a:solidFill>
                <a:schemeClr val="tx1">
                  <a:lumMod val="95000"/>
                </a:schemeClr>
              </a:solidFill>
              <a:effectLst/>
              <a:latin typeface="system-ui"/>
            </a:endParaRPr>
          </a:p>
          <a:p>
            <a:pPr algn="l"/>
            <a:r>
              <a:rPr lang="en-IN" sz="9600" b="0" i="0" dirty="0">
                <a:solidFill>
                  <a:schemeClr val="tx1">
                    <a:lumMod val="95000"/>
                  </a:schemeClr>
                </a:solidFill>
                <a:effectLst/>
                <a:latin typeface="system-ui"/>
              </a:rPr>
              <a:t>Average Time Complexity [Big-theta]: </a:t>
            </a:r>
            <a:r>
              <a:rPr lang="en-IN" sz="9600" b="1" i="0" dirty="0">
                <a:solidFill>
                  <a:schemeClr val="tx1">
                    <a:lumMod val="95000"/>
                  </a:schemeClr>
                </a:solidFill>
                <a:effectLst/>
                <a:latin typeface="system-ui"/>
              </a:rPr>
              <a:t>O(n*log n)</a:t>
            </a:r>
            <a:endParaRPr lang="en-IN" sz="9600" b="0" i="0" dirty="0">
              <a:solidFill>
                <a:schemeClr val="tx1">
                  <a:lumMod val="95000"/>
                </a:schemeClr>
              </a:solidFill>
              <a:effectLst/>
              <a:latin typeface="system-ui"/>
            </a:endParaRPr>
          </a:p>
          <a:p>
            <a:pPr algn="l"/>
            <a:r>
              <a:rPr lang="en-IN" sz="9600" b="0" i="0" dirty="0">
                <a:solidFill>
                  <a:schemeClr val="tx1">
                    <a:lumMod val="95000"/>
                  </a:schemeClr>
                </a:solidFill>
                <a:effectLst/>
                <a:latin typeface="system-ui"/>
              </a:rPr>
              <a:t>Space Complexity: </a:t>
            </a:r>
            <a:r>
              <a:rPr lang="en-IN" sz="9600" b="1" i="0" dirty="0">
                <a:solidFill>
                  <a:schemeClr val="tx1">
                    <a:lumMod val="95000"/>
                  </a:schemeClr>
                </a:solidFill>
                <a:effectLst/>
                <a:latin typeface="system-ui"/>
              </a:rPr>
              <a:t>O(n)</a:t>
            </a:r>
            <a:endParaRPr lang="en-IN" sz="9600" b="0" i="0" dirty="0">
              <a:solidFill>
                <a:schemeClr val="tx1">
                  <a:lumMod val="95000"/>
                </a:schemeClr>
              </a:solidFill>
              <a:effectLst/>
              <a:latin typeface="system-ui"/>
            </a:endParaRPr>
          </a:p>
          <a:p>
            <a:endParaRPr lang="en-IN" dirty="0"/>
          </a:p>
        </p:txBody>
      </p:sp>
    </p:spTree>
    <p:extLst>
      <p:ext uri="{BB962C8B-B14F-4D97-AF65-F5344CB8AC3E}">
        <p14:creationId xmlns:p14="http://schemas.microsoft.com/office/powerpoint/2010/main" val="2891819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678CE-28D0-4D11-AD55-E3097C26998B}"/>
              </a:ext>
            </a:extLst>
          </p:cNvPr>
          <p:cNvSpPr>
            <a:spLocks noGrp="1"/>
          </p:cNvSpPr>
          <p:nvPr>
            <p:ph type="title"/>
          </p:nvPr>
        </p:nvSpPr>
        <p:spPr/>
        <p:txBody>
          <a:bodyPr/>
          <a:lstStyle/>
          <a:p>
            <a:r>
              <a:rPr lang="en-US" dirty="0"/>
              <a:t>QUICK SORT</a:t>
            </a:r>
            <a:endParaRPr lang="en-IN" dirty="0"/>
          </a:p>
        </p:txBody>
      </p:sp>
      <p:pic>
        <p:nvPicPr>
          <p:cNvPr id="4" name="JAMM and 8 more pages - Personal - Microsoft​ Edge 2022-01-08 13-43-06">
            <a:hlinkClick r:id="" action="ppaction://media"/>
            <a:extLst>
              <a:ext uri="{FF2B5EF4-FFF2-40B4-BE49-F238E27FC236}">
                <a16:creationId xmlns:a16="http://schemas.microsoft.com/office/drawing/2014/main" id="{2F6A7A15-46EE-42D8-9429-AF71D0C0947D}"/>
              </a:ext>
            </a:extLst>
          </p:cNvPr>
          <p:cNvPicPr>
            <a:picLocks noGrp="1" noChangeAspect="1"/>
          </p:cNvPicPr>
          <p:nvPr>
            <p:ph idx="1"/>
            <a:videoFile r:link="rId1"/>
            <p:extLst>
              <p:ext uri="{DAA4B4D4-6D71-4841-9C94-3DE7FCFB9230}">
                <p14:media xmlns:p14="http://schemas.microsoft.com/office/powerpoint/2010/main" r:embed="rId2">
                  <p14:trim st="55359" end="2893.8666"/>
                </p14:media>
              </p:ext>
            </p:extLst>
          </p:nvPr>
        </p:nvPicPr>
        <p:blipFill rotWithShape="1">
          <a:blip r:embed="rId4"/>
          <a:srcRect t="9744" r="749"/>
          <a:stretch>
            <a:fillRect/>
          </a:stretch>
        </p:blipFill>
        <p:spPr>
          <a:xfrm>
            <a:off x="2289175" y="1866900"/>
            <a:ext cx="8813710" cy="42576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83410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15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71039-5F5A-4B85-A5BA-22F091C3D23C}"/>
              </a:ext>
            </a:extLst>
          </p:cNvPr>
          <p:cNvSpPr>
            <a:spLocks noGrp="1"/>
          </p:cNvSpPr>
          <p:nvPr>
            <p:ph type="title"/>
          </p:nvPr>
        </p:nvSpPr>
        <p:spPr/>
        <p:txBody>
          <a:bodyPr/>
          <a:lstStyle/>
          <a:p>
            <a:r>
              <a:rPr lang="en-IN" b="0" i="0" dirty="0">
                <a:solidFill>
                  <a:schemeClr val="tx1">
                    <a:lumMod val="95000"/>
                  </a:schemeClr>
                </a:solidFill>
                <a:effectLst/>
                <a:latin typeface="system-ui"/>
              </a:rPr>
              <a:t>Implementing Insertion Sort Algorithm:</a:t>
            </a:r>
            <a:endParaRPr lang="en-IN" dirty="0"/>
          </a:p>
        </p:txBody>
      </p:sp>
      <p:sp>
        <p:nvSpPr>
          <p:cNvPr id="3" name="Content Placeholder 2">
            <a:extLst>
              <a:ext uri="{FF2B5EF4-FFF2-40B4-BE49-F238E27FC236}">
                <a16:creationId xmlns:a16="http://schemas.microsoft.com/office/drawing/2014/main" id="{E0E973F2-AA53-444E-ABCB-F814A1C954A6}"/>
              </a:ext>
            </a:extLst>
          </p:cNvPr>
          <p:cNvSpPr>
            <a:spLocks noGrp="1"/>
          </p:cNvSpPr>
          <p:nvPr>
            <p:ph idx="1"/>
          </p:nvPr>
        </p:nvSpPr>
        <p:spPr/>
        <p:txBody>
          <a:bodyPr/>
          <a:lstStyle/>
          <a:p>
            <a:r>
              <a:rPr lang="en-US" sz="2400" dirty="0">
                <a:solidFill>
                  <a:schemeClr val="tx1">
                    <a:lumMod val="95000"/>
                  </a:schemeClr>
                </a:solidFill>
                <a:latin typeface="system-ui"/>
              </a:rPr>
              <a:t>In Quick sort we follow the following steps:</a:t>
            </a:r>
          </a:p>
          <a:p>
            <a:endParaRPr lang="en-IN" dirty="0"/>
          </a:p>
        </p:txBody>
      </p:sp>
      <p:sp>
        <p:nvSpPr>
          <p:cNvPr id="5" name="TextBox 4">
            <a:extLst>
              <a:ext uri="{FF2B5EF4-FFF2-40B4-BE49-F238E27FC236}">
                <a16:creationId xmlns:a16="http://schemas.microsoft.com/office/drawing/2014/main" id="{8E040781-815F-46DF-AE9E-E78C7B2DB11F}"/>
              </a:ext>
            </a:extLst>
          </p:cNvPr>
          <p:cNvSpPr txBox="1"/>
          <p:nvPr/>
        </p:nvSpPr>
        <p:spPr>
          <a:xfrm>
            <a:off x="1343025" y="2603064"/>
            <a:ext cx="9448799" cy="3046988"/>
          </a:xfrm>
          <a:prstGeom prst="rect">
            <a:avLst/>
          </a:prstGeom>
          <a:noFill/>
        </p:spPr>
        <p:txBody>
          <a:bodyPr wrap="square">
            <a:spAutoFit/>
          </a:bodyPr>
          <a:lstStyle/>
          <a:p>
            <a:pPr algn="l" fontAlgn="base"/>
            <a:r>
              <a:rPr lang="en-US" sz="2400" b="0" i="0" dirty="0">
                <a:solidFill>
                  <a:srgbClr val="FFFFFF"/>
                </a:solidFill>
                <a:effectLst/>
                <a:latin typeface="system-ui"/>
              </a:rPr>
              <a:t>Step-1: pick </a:t>
            </a:r>
            <a:r>
              <a:rPr lang="en-US" sz="2400" dirty="0">
                <a:solidFill>
                  <a:srgbClr val="FFFFFF"/>
                </a:solidFill>
                <a:latin typeface="system-ui"/>
              </a:rPr>
              <a:t>any</a:t>
            </a:r>
            <a:r>
              <a:rPr lang="en-US" sz="2400" b="0" i="0" dirty="0">
                <a:solidFill>
                  <a:srgbClr val="FFFFFF"/>
                </a:solidFill>
                <a:effectLst/>
                <a:latin typeface="system-ui"/>
              </a:rPr>
              <a:t> element as pivot.</a:t>
            </a:r>
          </a:p>
          <a:p>
            <a:pPr algn="l" fontAlgn="base"/>
            <a:r>
              <a:rPr lang="en-US" sz="2400" b="0" i="0" dirty="0">
                <a:solidFill>
                  <a:srgbClr val="FFFFFF"/>
                </a:solidFill>
                <a:effectLst/>
                <a:latin typeface="system-ui"/>
              </a:rPr>
              <a:t>Step-2:The key process in </a:t>
            </a:r>
            <a:r>
              <a:rPr lang="en-US" sz="2400" b="0" i="0" dirty="0" err="1">
                <a:solidFill>
                  <a:srgbClr val="FFFFFF"/>
                </a:solidFill>
                <a:effectLst/>
                <a:latin typeface="system-ui"/>
              </a:rPr>
              <a:t>quickSort</a:t>
            </a:r>
            <a:r>
              <a:rPr lang="en-US" sz="2400" b="0" i="0" dirty="0">
                <a:solidFill>
                  <a:srgbClr val="FFFFFF"/>
                </a:solidFill>
                <a:effectLst/>
                <a:latin typeface="system-ui"/>
              </a:rPr>
              <a:t> is partition(). Target of partitions is, given an array and an element x of array as pivot, put x at its correct position in sorted array </a:t>
            </a:r>
          </a:p>
          <a:p>
            <a:pPr algn="l" fontAlgn="base"/>
            <a:r>
              <a:rPr lang="en-US" sz="2400" dirty="0">
                <a:solidFill>
                  <a:srgbClr val="FFFFFF"/>
                </a:solidFill>
                <a:latin typeface="system-ui"/>
              </a:rPr>
              <a:t>Step-3:P</a:t>
            </a:r>
            <a:r>
              <a:rPr lang="en-US" sz="2400" b="0" i="0" dirty="0">
                <a:solidFill>
                  <a:srgbClr val="FFFFFF"/>
                </a:solidFill>
                <a:effectLst/>
                <a:latin typeface="system-ui"/>
              </a:rPr>
              <a:t>ut all smaller elements (smaller than x) before x</a:t>
            </a:r>
            <a:endParaRPr lang="en-US" sz="2400" dirty="0">
              <a:solidFill>
                <a:srgbClr val="FFFFFF"/>
              </a:solidFill>
              <a:latin typeface="system-ui"/>
            </a:endParaRPr>
          </a:p>
          <a:p>
            <a:pPr algn="l" fontAlgn="base"/>
            <a:r>
              <a:rPr lang="en-US" sz="2400" b="0" i="0" dirty="0">
                <a:solidFill>
                  <a:srgbClr val="FFFFFF"/>
                </a:solidFill>
                <a:effectLst/>
                <a:latin typeface="system-ui"/>
              </a:rPr>
              <a:t>Step-4:Put all greater elements (greater than x) after x. All this should be done in linear time.</a:t>
            </a:r>
          </a:p>
          <a:p>
            <a:pPr algn="l" fontAlgn="base"/>
            <a:r>
              <a:rPr lang="en-US" sz="2400" dirty="0">
                <a:solidFill>
                  <a:srgbClr val="FFFFFF"/>
                </a:solidFill>
                <a:latin typeface="system-ui"/>
              </a:rPr>
              <a:t>Step-5:Call Quick sort function for left array and right array.</a:t>
            </a:r>
            <a:r>
              <a:rPr lang="en-US" sz="2400" b="0" i="0" dirty="0">
                <a:solidFill>
                  <a:srgbClr val="FFFFFF"/>
                </a:solidFill>
                <a:effectLst/>
                <a:latin typeface="system-ui"/>
              </a:rPr>
              <a:t> </a:t>
            </a:r>
          </a:p>
        </p:txBody>
      </p:sp>
    </p:spTree>
    <p:extLst>
      <p:ext uri="{BB962C8B-B14F-4D97-AF65-F5344CB8AC3E}">
        <p14:creationId xmlns:p14="http://schemas.microsoft.com/office/powerpoint/2010/main" val="3564394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C8A90-F880-415F-A72A-6128283E8611}"/>
              </a:ext>
            </a:extLst>
          </p:cNvPr>
          <p:cNvSpPr>
            <a:spLocks noGrp="1"/>
          </p:cNvSpPr>
          <p:nvPr>
            <p:ph type="title"/>
          </p:nvPr>
        </p:nvSpPr>
        <p:spPr>
          <a:xfrm>
            <a:off x="276226" y="609600"/>
            <a:ext cx="11915774" cy="1257300"/>
          </a:xfrm>
        </p:spPr>
        <p:txBody>
          <a:bodyPr>
            <a:normAutofit/>
          </a:bodyPr>
          <a:lstStyle/>
          <a:p>
            <a:pPr algn="l"/>
            <a:r>
              <a:rPr lang="en-US" sz="3600" b="1" i="0" dirty="0">
                <a:solidFill>
                  <a:schemeClr val="tx1"/>
                </a:solidFill>
                <a:effectLst/>
                <a:latin typeface="system-ui"/>
              </a:rPr>
              <a:t>COMPLEXITY ANALYSIS OF QUICK SORT ALGORITHM:</a:t>
            </a:r>
            <a:endParaRPr lang="en-IN" sz="3600" dirty="0"/>
          </a:p>
        </p:txBody>
      </p:sp>
      <p:sp>
        <p:nvSpPr>
          <p:cNvPr id="3" name="Content Placeholder 2">
            <a:extLst>
              <a:ext uri="{FF2B5EF4-FFF2-40B4-BE49-F238E27FC236}">
                <a16:creationId xmlns:a16="http://schemas.microsoft.com/office/drawing/2014/main" id="{A403D5A4-28E9-46AC-8217-D15726DA77A8}"/>
              </a:ext>
            </a:extLst>
          </p:cNvPr>
          <p:cNvSpPr>
            <a:spLocks noGrp="1"/>
          </p:cNvSpPr>
          <p:nvPr>
            <p:ph idx="1"/>
          </p:nvPr>
        </p:nvSpPr>
        <p:spPr/>
        <p:txBody>
          <a:bodyPr/>
          <a:lstStyle/>
          <a:p>
            <a:pPr algn="l"/>
            <a:r>
              <a:rPr lang="en-IN" sz="2400" b="0" i="0" dirty="0">
                <a:solidFill>
                  <a:schemeClr val="tx1">
                    <a:lumMod val="95000"/>
                  </a:schemeClr>
                </a:solidFill>
                <a:effectLst/>
                <a:latin typeface="system-ui"/>
              </a:rPr>
              <a:t>Worst Case Time Complexity [ Big-O ]: </a:t>
            </a:r>
            <a:r>
              <a:rPr lang="en-IN" sz="2400" b="1" i="0" dirty="0">
                <a:solidFill>
                  <a:schemeClr val="tx1">
                    <a:lumMod val="95000"/>
                  </a:schemeClr>
                </a:solidFill>
                <a:effectLst/>
                <a:latin typeface="system-ui"/>
              </a:rPr>
              <a:t>O(n*log n)</a:t>
            </a:r>
            <a:endParaRPr lang="en-IN" sz="2400" b="0" i="0" dirty="0">
              <a:solidFill>
                <a:schemeClr val="tx1">
                  <a:lumMod val="95000"/>
                </a:schemeClr>
              </a:solidFill>
              <a:effectLst/>
              <a:latin typeface="system-ui"/>
            </a:endParaRPr>
          </a:p>
          <a:p>
            <a:pPr algn="l"/>
            <a:r>
              <a:rPr lang="en-IN" sz="2400" b="0" i="0" dirty="0">
                <a:solidFill>
                  <a:schemeClr val="tx1">
                    <a:lumMod val="95000"/>
                  </a:schemeClr>
                </a:solidFill>
                <a:effectLst/>
                <a:latin typeface="system-ui"/>
              </a:rPr>
              <a:t>Best Case Time Complexity [Big-omega]: </a:t>
            </a:r>
            <a:r>
              <a:rPr lang="en-IN" sz="2400" b="1" i="0" dirty="0">
                <a:solidFill>
                  <a:schemeClr val="tx1">
                    <a:lumMod val="95000"/>
                  </a:schemeClr>
                </a:solidFill>
                <a:effectLst/>
                <a:latin typeface="system-ui"/>
              </a:rPr>
              <a:t>O(n*log n)</a:t>
            </a:r>
            <a:endParaRPr lang="en-IN" sz="2400" b="0" i="0" dirty="0">
              <a:solidFill>
                <a:schemeClr val="tx1">
                  <a:lumMod val="95000"/>
                </a:schemeClr>
              </a:solidFill>
              <a:effectLst/>
              <a:latin typeface="system-ui"/>
            </a:endParaRPr>
          </a:p>
          <a:p>
            <a:pPr algn="l"/>
            <a:r>
              <a:rPr lang="en-IN" sz="2400" b="0" i="0" dirty="0">
                <a:solidFill>
                  <a:schemeClr val="tx1">
                    <a:lumMod val="95000"/>
                  </a:schemeClr>
                </a:solidFill>
                <a:effectLst/>
                <a:latin typeface="system-ui"/>
              </a:rPr>
              <a:t>Average Time Complexity [Big-theta]: </a:t>
            </a:r>
            <a:r>
              <a:rPr lang="en-IN" sz="2400" b="1" i="0" dirty="0">
                <a:solidFill>
                  <a:schemeClr val="tx1">
                    <a:lumMod val="95000"/>
                  </a:schemeClr>
                </a:solidFill>
                <a:effectLst/>
                <a:latin typeface="system-ui"/>
              </a:rPr>
              <a:t>O(n*log n)</a:t>
            </a:r>
            <a:endParaRPr lang="en-IN" sz="2400" b="0" i="0" dirty="0">
              <a:solidFill>
                <a:schemeClr val="tx1">
                  <a:lumMod val="95000"/>
                </a:schemeClr>
              </a:solidFill>
              <a:effectLst/>
              <a:latin typeface="system-ui"/>
            </a:endParaRPr>
          </a:p>
          <a:p>
            <a:pPr algn="l"/>
            <a:r>
              <a:rPr lang="en-IN" sz="2400" b="0" i="0" dirty="0">
                <a:solidFill>
                  <a:schemeClr val="tx1">
                    <a:lumMod val="95000"/>
                  </a:schemeClr>
                </a:solidFill>
                <a:effectLst/>
                <a:latin typeface="system-ui"/>
              </a:rPr>
              <a:t>Space Complexity: </a:t>
            </a:r>
            <a:r>
              <a:rPr lang="en-IN" sz="2400" b="1" i="0" dirty="0">
                <a:solidFill>
                  <a:schemeClr val="tx1">
                    <a:lumMod val="95000"/>
                  </a:schemeClr>
                </a:solidFill>
                <a:effectLst/>
                <a:latin typeface="system-ui"/>
              </a:rPr>
              <a:t>O(n)</a:t>
            </a:r>
            <a:endParaRPr lang="en-IN" sz="2400" b="0" i="0" dirty="0">
              <a:solidFill>
                <a:schemeClr val="tx1">
                  <a:lumMod val="95000"/>
                </a:schemeClr>
              </a:solidFill>
              <a:effectLst/>
              <a:latin typeface="system-ui"/>
            </a:endParaRPr>
          </a:p>
          <a:p>
            <a:pPr marL="36900" indent="0">
              <a:buNone/>
            </a:pPr>
            <a:endParaRPr lang="en-IN" dirty="0"/>
          </a:p>
        </p:txBody>
      </p:sp>
    </p:spTree>
    <p:extLst>
      <p:ext uri="{BB962C8B-B14F-4D97-AF65-F5344CB8AC3E}">
        <p14:creationId xmlns:p14="http://schemas.microsoft.com/office/powerpoint/2010/main" val="2284686817"/>
      </p:ext>
    </p:extLst>
  </p:cSld>
  <p:clrMapOvr>
    <a:masterClrMapping/>
  </p:clrMapOvr>
</p:sld>
</file>

<file path=ppt/theme/_rels/theme1.xml.rels>&#65279;<?xml version="1.0" encoding="utf-8"?><Relationships xmlns="http://schemas.openxmlformats.org/package/2006/relationships"><Relationship Type="http://schemas.openxmlformats.org/officeDocument/2006/relationships/image" Target="/ppt/media/image1.jpeg" Id="rId1" /></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&#65279;<?xml version="1.0" encoding="utf-8"?><Relationships xmlns="http://schemas.openxmlformats.org/package/2006/relationships"><Relationship Type="http://schemas.openxmlformats.org/officeDocument/2006/relationships/customXmlProps" Target="/customXml/itemProps1.xml" Id="rId1" /></Relationships>
</file>

<file path=customXml/_rels/item2.xml.rels>&#65279;<?xml version="1.0" encoding="utf-8"?><Relationships xmlns="http://schemas.openxmlformats.org/package/2006/relationships"><Relationship Type="http://schemas.openxmlformats.org/officeDocument/2006/relationships/customXmlProps" Target="/customXml/itemProps2.xml" Id="rId1" /></Relationships>
</file>

<file path=customXml/_rels/item3.xml.rels>&#65279;<?xml version="1.0" encoding="utf-8"?><Relationships xmlns="http://schemas.openxmlformats.org/package/2006/relationships"><Relationship Type="http://schemas.openxmlformats.org/officeDocument/2006/relationships/customXmlProps" Target="/customXml/itemProps3.xml" Id="rId1"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2.xml><?xml version="1.0" encoding="utf-8"?>
<ds:datastoreItem xmlns:ds="http://schemas.openxmlformats.org/officeDocument/2006/customXml" ds:itemID="{2C4C00F4-06E9-43E3-AD97-88A857CEFA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{18E943CB-4D19-43BA-B116-C09E33CCD10D}tf55705232_win32</Template>
  <TotalTime>180</TotalTime>
  <Words>1187</Words>
  <Application>Microsoft Office PowerPoint</Application>
  <PresentationFormat>Widescreen</PresentationFormat>
  <Paragraphs>91</Paragraphs>
  <Slides>20</Slides>
  <Notes>1</Notes>
  <HiddenSlides>0</HiddenSlides>
  <MMClips>5</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Arial</vt:lpstr>
      <vt:lpstr>Calibri</vt:lpstr>
      <vt:lpstr>Goudy Old Style</vt:lpstr>
      <vt:lpstr>Monaco</vt:lpstr>
      <vt:lpstr>Open Sans</vt:lpstr>
      <vt:lpstr>PT Sans</vt:lpstr>
      <vt:lpstr>Roboto</vt:lpstr>
      <vt:lpstr>system-ui</vt:lpstr>
      <vt:lpstr>var(--bs-font-monospace)</vt:lpstr>
      <vt:lpstr>Wingdings 2</vt:lpstr>
      <vt:lpstr>SlateVTI</vt:lpstr>
      <vt:lpstr>   VISUAL ALGO </vt:lpstr>
      <vt:lpstr>Visual Algorithm-</vt:lpstr>
      <vt:lpstr>Sorting-  </vt:lpstr>
      <vt:lpstr>Technologies used:</vt:lpstr>
      <vt:lpstr>Various Sorting Algorithms:</vt:lpstr>
      <vt:lpstr>BUBBLE SORT</vt:lpstr>
      <vt:lpstr>Implementing Bubble Sort Algorithm:</vt:lpstr>
      <vt:lpstr>Complexity Analysis of Bubble Sort:</vt:lpstr>
      <vt:lpstr>INSERTION SORT </vt:lpstr>
      <vt:lpstr>Implementing Insertion Sort Algorithm:</vt:lpstr>
      <vt:lpstr>COMPLEXITY ANALYSIS OF INSERTION SORT ALGORITHM:</vt:lpstr>
      <vt:lpstr>SELECTION SORT</vt:lpstr>
      <vt:lpstr>Implementing Selection Sort Algorithm:</vt:lpstr>
      <vt:lpstr>COMPLEXITY ANALYSIS OF SELECTION SORT ALGORITHM:</vt:lpstr>
      <vt:lpstr>MERGE SORT</vt:lpstr>
      <vt:lpstr>Implementing Merge Sort Algorithm:</vt:lpstr>
      <vt:lpstr>COMPLEXITY ANALYSIS OF MERGE SORT ALGORITHM:</vt:lpstr>
      <vt:lpstr>QUICK SORT</vt:lpstr>
      <vt:lpstr>Implementing Insertion Sort Algorithm:</vt:lpstr>
      <vt:lpstr>COMPLEXITY ANALYSIS OF QUICK SORT ALGORITHM: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 ALGO</dc:title>
  <dc:creator>JAI BHOGADI</dc:creator>
  <cp:lastModifiedBy>JAI BHOGADI</cp:lastModifiedBy>
  <cp:revision>3</cp:revision>
  <dcterms:created xsi:type="dcterms:W3CDTF">2021-09-26T13:54:14Z</dcterms:created>
  <dcterms:modified xsi:type="dcterms:W3CDTF">2022-01-08T08:39:15Z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